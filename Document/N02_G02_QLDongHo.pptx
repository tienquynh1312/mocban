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57" r:id="rId3"/>
    <p:sldId id="258" r:id="rId4"/>
    <p:sldId id="259" r:id="rId5"/>
    <p:sldId id="260" r:id="rId6"/>
    <p:sldId id="261" r:id="rId7"/>
    <p:sldId id="262" r:id="rId8"/>
    <p:sldId id="263" r:id="rId9"/>
    <p:sldId id="267" r:id="rId10"/>
    <p:sldId id="268" r:id="rId11"/>
    <p:sldId id="272" r:id="rId12"/>
    <p:sldId id="264" r:id="rId13"/>
    <p:sldId id="273" r:id="rId14"/>
    <p:sldId id="265" r:id="rId15"/>
    <p:sldId id="274" r:id="rId16"/>
    <p:sldId id="266" r:id="rId17"/>
    <p:sldId id="289" r:id="rId18"/>
    <p:sldId id="270" r:id="rId19"/>
    <p:sldId id="271" r:id="rId20"/>
    <p:sldId id="275" r:id="rId21"/>
    <p:sldId id="276" r:id="rId22"/>
    <p:sldId id="277" r:id="rId23"/>
    <p:sldId id="278" r:id="rId24"/>
    <p:sldId id="279" r:id="rId25"/>
    <p:sldId id="280" r:id="rId26"/>
    <p:sldId id="281" r:id="rId27"/>
    <p:sldId id="282" r:id="rId28"/>
    <p:sldId id="283" r:id="rId29"/>
    <p:sldId id="284" r:id="rId30"/>
    <p:sldId id="287" r:id="rId31"/>
    <p:sldId id="286" r:id="rId32"/>
    <p:sldId id="288" r:id="rId33"/>
  </p:sldIdLst>
  <p:sldSz cx="12192000" cy="6858000"/>
  <p:notesSz cx="6858000" cy="9144000"/>
  <p:embeddedFontLst>
    <p:embeddedFont>
      <p:font typeface="Inter" panose="020B0604020202020204" charset="0"/>
      <p:regular r:id="rId35"/>
      <p:bold r:id="rId36"/>
      <p:italic r:id="rId37"/>
      <p:boldItalic r:id="rId38"/>
    </p:embeddedFont>
    <p:embeddedFont>
      <p:font typeface="Inter SemiBold" panose="020B0604020202020204" charset="0"/>
      <p:regular r:id="rId39"/>
      <p:bold r:id="rId40"/>
      <p:italic r:id="rId41"/>
      <p:boldItalic r:id="rId42"/>
    </p:embeddedFont>
    <p:embeddedFont>
      <p:font typeface="Lexend" panose="020B0604020202020204" charset="0"/>
      <p:regular r:id="rId43"/>
      <p:bold r:id="rId44"/>
    </p:embeddedFont>
    <p:embeddedFont>
      <p:font typeface="Lexend Medium" panose="020B0604020202020204" charset="0"/>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70DC1E-C08A-4846-B2B2-EE23D9A66826}" v="2" dt="2026-06-30T14:16:27.365"/>
  </p1510:revLst>
</p1510:revInfo>
</file>

<file path=ppt/tableStyles.xml><?xml version="1.0" encoding="utf-8"?>
<a:tblStyleLst xmlns:a="http://schemas.openxmlformats.org/drawingml/2006/main" def="{89804699-30EC-4902-8FF0-153928EC6EE9}">
  <a:tblStyle styleId="{89804699-30EC-4902-8FF0-153928EC6EE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Thi Kieu Trang" userId="5328ddf0-b8c7-4bba-ad6b-017a18ae336b" providerId="ADAL" clId="{4070DC1E-C08A-4846-B2B2-EE23D9A66826}"/>
    <pc:docChg chg="modSld">
      <pc:chgData name="Le Thi Kieu Trang" userId="5328ddf0-b8c7-4bba-ad6b-017a18ae336b" providerId="ADAL" clId="{4070DC1E-C08A-4846-B2B2-EE23D9A66826}" dt="2026-06-30T14:16:49.837" v="26" actId="255"/>
      <pc:docMkLst>
        <pc:docMk/>
      </pc:docMkLst>
      <pc:sldChg chg="addSp modSp mod">
        <pc:chgData name="Le Thi Kieu Trang" userId="5328ddf0-b8c7-4bba-ad6b-017a18ae336b" providerId="ADAL" clId="{4070DC1E-C08A-4846-B2B2-EE23D9A66826}" dt="2026-06-30T14:16:49.837" v="26" actId="255"/>
        <pc:sldMkLst>
          <pc:docMk/>
          <pc:sldMk cId="0" sldId="281"/>
        </pc:sldMkLst>
        <pc:spChg chg="add mod">
          <ac:chgData name="Le Thi Kieu Trang" userId="5328ddf0-b8c7-4bba-ad6b-017a18ae336b" providerId="ADAL" clId="{4070DC1E-C08A-4846-B2B2-EE23D9A66826}" dt="2026-06-30T14:16:49.837" v="26" actId="255"/>
          <ac:spMkLst>
            <pc:docMk/>
            <pc:sldMk cId="0" sldId="281"/>
            <ac:spMk id="2" creationId="{FFE218EA-14E3-41F2-0BA3-A989A9FE13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81" name="Google Shape;38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0" name="Google Shape;39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a:extLst>
            <a:ext uri="{FF2B5EF4-FFF2-40B4-BE49-F238E27FC236}">
              <a16:creationId xmlns:a16="http://schemas.microsoft.com/office/drawing/2014/main" id="{5DC672E3-AA8F-9785-DF80-FF7B6DF1A51F}"/>
            </a:ext>
          </a:extLst>
        </p:cNvPr>
        <p:cNvGrpSpPr/>
        <p:nvPr/>
      </p:nvGrpSpPr>
      <p:grpSpPr>
        <a:xfrm>
          <a:off x="0" y="0"/>
          <a:ext cx="0" cy="0"/>
          <a:chOff x="0" y="0"/>
          <a:chExt cx="0" cy="0"/>
        </a:xfrm>
      </p:grpSpPr>
      <p:sp>
        <p:nvSpPr>
          <p:cNvPr id="398" name="Google Shape;398;p19:notes">
            <a:extLst>
              <a:ext uri="{FF2B5EF4-FFF2-40B4-BE49-F238E27FC236}">
                <a16:creationId xmlns:a16="http://schemas.microsoft.com/office/drawing/2014/main" id="{CF46A4A2-FC19-3EBB-0748-5C718E4BDF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p19:notes">
            <a:extLst>
              <a:ext uri="{FF2B5EF4-FFF2-40B4-BE49-F238E27FC236}">
                <a16:creationId xmlns:a16="http://schemas.microsoft.com/office/drawing/2014/main" id="{0C7F14CB-10C1-4456-45AF-57CB8E4D83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9855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 name="Google Shape;40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6" name="Google Shape;41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1" name="Google Shape;44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2" name="Google Shape;48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4" name="Google Shape;51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2.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9.jpe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2.jpe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3.jfif"/></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6.jpe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hyperlink" Target="https://github.com/tienquynh1312/mocban" TargetMode="External"/><Relationship Id="rId3" Type="http://schemas.openxmlformats.org/officeDocument/2006/relationships/image" Target="../media/image12.png"/><Relationship Id="rId7"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s>
</file>

<file path=ppt/slides/_rels/slide3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0" y="0"/>
            <a:ext cx="4330460" cy="685800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5029200" y="4940498"/>
            <a:ext cx="6400800" cy="714375"/>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0" y="1584126"/>
            <a:ext cx="4267200" cy="3702337"/>
          </a:xfrm>
          <a:prstGeom prst="rect">
            <a:avLst/>
          </a:prstGeom>
          <a:noFill/>
          <a:ln>
            <a:noFill/>
          </a:ln>
        </p:spPr>
      </p:pic>
      <p:sp>
        <p:nvSpPr>
          <p:cNvPr id="89" name="Google Shape;89;p13"/>
          <p:cNvSpPr txBox="1"/>
          <p:nvPr/>
        </p:nvSpPr>
        <p:spPr>
          <a:xfrm>
            <a:off x="5029200" y="1584126"/>
            <a:ext cx="6720840" cy="182819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5400" b="1" i="0" u="none" strike="noStrike" cap="none" dirty="0">
                <a:solidFill>
                  <a:srgbClr val="FFFFFF"/>
                </a:solidFill>
                <a:latin typeface="Lexend"/>
                <a:ea typeface="Lexend"/>
                <a:cs typeface="Lexend"/>
                <a:sym typeface="Lexend"/>
              </a:rPr>
              <a:t>QUẢN LÝ </a:t>
            </a:r>
            <a:br>
              <a:rPr lang="en-US" sz="1800" b="0" i="0" u="none" strike="noStrike" cap="none" dirty="0">
                <a:solidFill>
                  <a:schemeClr val="dk1"/>
                </a:solidFill>
                <a:latin typeface="Calibri"/>
                <a:ea typeface="Calibri"/>
                <a:cs typeface="Calibri"/>
                <a:sym typeface="Calibri"/>
              </a:rPr>
            </a:br>
            <a:r>
              <a:rPr lang="en-US" sz="5400" b="1" i="0" u="none" strike="noStrike" cap="none" dirty="0">
                <a:solidFill>
                  <a:schemeClr val="accent1"/>
                </a:solidFill>
                <a:latin typeface="Lexend"/>
                <a:ea typeface="Lexend"/>
                <a:cs typeface="Lexend"/>
                <a:sym typeface="Lexend"/>
              </a:rPr>
              <a:t>DÒNG HỌ </a:t>
            </a:r>
            <a:endParaRPr dirty="0">
              <a:solidFill>
                <a:schemeClr val="accent1"/>
              </a:solidFill>
            </a:endParaRPr>
          </a:p>
        </p:txBody>
      </p:sp>
      <p:sp>
        <p:nvSpPr>
          <p:cNvPr id="90" name="Google Shape;90;p13"/>
          <p:cNvSpPr txBox="1"/>
          <p:nvPr/>
        </p:nvSpPr>
        <p:spPr>
          <a:xfrm>
            <a:off x="5029200" y="3530798"/>
            <a:ext cx="6400800" cy="6001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dirty="0" err="1">
                <a:solidFill>
                  <a:srgbClr val="94A3B8"/>
                </a:solidFill>
                <a:latin typeface="Inter"/>
                <a:ea typeface="Inter"/>
                <a:cs typeface="Inter"/>
                <a:sym typeface="Inter"/>
              </a:rPr>
              <a:t>Hệ</a:t>
            </a:r>
            <a:r>
              <a:rPr lang="en-US" sz="1950" b="0" i="0" u="none" strike="noStrike" cap="none" dirty="0">
                <a:solidFill>
                  <a:srgbClr val="94A3B8"/>
                </a:solidFill>
                <a:latin typeface="Inter"/>
                <a:ea typeface="Inter"/>
                <a:cs typeface="Inter"/>
                <a:sym typeface="Inter"/>
              </a:rPr>
              <a:t> </a:t>
            </a:r>
            <a:r>
              <a:rPr lang="en-US" sz="1950" b="0" i="0" u="none" strike="noStrike" cap="none" dirty="0" err="1">
                <a:solidFill>
                  <a:srgbClr val="94A3B8"/>
                </a:solidFill>
                <a:latin typeface="Inter"/>
                <a:ea typeface="Inter"/>
                <a:cs typeface="Inter"/>
                <a:sym typeface="Inter"/>
              </a:rPr>
              <a:t>thống</a:t>
            </a:r>
            <a:r>
              <a:rPr lang="en-US" sz="1950" b="0" i="0" u="none" strike="noStrike" cap="none" dirty="0">
                <a:solidFill>
                  <a:srgbClr val="94A3B8"/>
                </a:solidFill>
                <a:latin typeface="Inter"/>
                <a:ea typeface="Inter"/>
                <a:cs typeface="Inter"/>
                <a:sym typeface="Inter"/>
              </a:rPr>
              <a:t> "</a:t>
            </a:r>
            <a:r>
              <a:rPr lang="en-US" sz="1950" b="0" i="0" u="none" strike="noStrike" cap="none" dirty="0" err="1">
                <a:solidFill>
                  <a:srgbClr val="94A3B8"/>
                </a:solidFill>
                <a:latin typeface="Inter"/>
                <a:ea typeface="Inter"/>
                <a:cs typeface="Inter"/>
                <a:sym typeface="Inter"/>
              </a:rPr>
              <a:t>Mộc</a:t>
            </a:r>
            <a:r>
              <a:rPr lang="en-US" sz="1950" b="0" i="0" u="none" strike="noStrike" cap="none" dirty="0">
                <a:solidFill>
                  <a:srgbClr val="94A3B8"/>
                </a:solidFill>
                <a:latin typeface="Inter"/>
                <a:ea typeface="Inter"/>
                <a:cs typeface="Inter"/>
                <a:sym typeface="Inter"/>
              </a:rPr>
              <a:t> </a:t>
            </a:r>
            <a:r>
              <a:rPr lang="en-US" sz="1950" b="0" i="0" u="none" strike="noStrike" cap="none" dirty="0" err="1">
                <a:solidFill>
                  <a:srgbClr val="94A3B8"/>
                </a:solidFill>
                <a:latin typeface="Inter"/>
                <a:ea typeface="Inter"/>
                <a:cs typeface="Inter"/>
                <a:sym typeface="Inter"/>
              </a:rPr>
              <a:t>Bản</a:t>
            </a:r>
            <a:r>
              <a:rPr lang="en-US" sz="1950" b="0" i="0" u="none" strike="noStrike" cap="none" dirty="0">
                <a:solidFill>
                  <a:srgbClr val="94A3B8"/>
                </a:solidFill>
                <a:latin typeface="Inter"/>
                <a:ea typeface="Inter"/>
                <a:cs typeface="Inter"/>
                <a:sym typeface="Inter"/>
              </a:rPr>
              <a:t>" - </a:t>
            </a:r>
            <a:r>
              <a:rPr lang="en-US" sz="1950" b="0" i="0" u="none" strike="noStrike" cap="none" dirty="0" err="1">
                <a:solidFill>
                  <a:srgbClr val="94A3B8"/>
                </a:solidFill>
                <a:latin typeface="Inter"/>
                <a:ea typeface="Inter"/>
                <a:cs typeface="Inter"/>
                <a:sym typeface="Inter"/>
              </a:rPr>
              <a:t>Kết</a:t>
            </a:r>
            <a:r>
              <a:rPr lang="en-US" sz="1950" b="0" i="0" u="none" strike="noStrike" cap="none" dirty="0">
                <a:solidFill>
                  <a:srgbClr val="94A3B8"/>
                </a:solidFill>
                <a:latin typeface="Inter"/>
                <a:ea typeface="Inter"/>
                <a:cs typeface="Inter"/>
                <a:sym typeface="Inter"/>
              </a:rPr>
              <a:t> </a:t>
            </a:r>
            <a:r>
              <a:rPr lang="en-US" sz="1950" b="0" i="0" u="none" strike="noStrike" cap="none" dirty="0" err="1">
                <a:solidFill>
                  <a:srgbClr val="94A3B8"/>
                </a:solidFill>
                <a:latin typeface="Inter"/>
                <a:ea typeface="Inter"/>
                <a:cs typeface="Inter"/>
                <a:sym typeface="Inter"/>
              </a:rPr>
              <a:t>nối</a:t>
            </a:r>
            <a:r>
              <a:rPr lang="en-US" sz="1950" b="0" i="0" u="none" strike="noStrike" cap="none" dirty="0">
                <a:solidFill>
                  <a:srgbClr val="94A3B8"/>
                </a:solidFill>
                <a:latin typeface="Inter"/>
                <a:ea typeface="Inter"/>
                <a:cs typeface="Inter"/>
                <a:sym typeface="Inter"/>
              </a:rPr>
              <a:t> </a:t>
            </a:r>
            <a:r>
              <a:rPr lang="en-US" sz="1950" b="0" i="0" u="none" strike="noStrike" cap="none" dirty="0" err="1">
                <a:solidFill>
                  <a:srgbClr val="94A3B8"/>
                </a:solidFill>
                <a:latin typeface="Inter"/>
                <a:ea typeface="Inter"/>
                <a:cs typeface="Inter"/>
                <a:sym typeface="Inter"/>
              </a:rPr>
              <a:t>nguồn</a:t>
            </a:r>
            <a:r>
              <a:rPr lang="en-US" sz="1950" b="0" i="0" u="none" strike="noStrike" cap="none" dirty="0">
                <a:solidFill>
                  <a:srgbClr val="94A3B8"/>
                </a:solidFill>
                <a:latin typeface="Inter"/>
                <a:ea typeface="Inter"/>
                <a:cs typeface="Inter"/>
                <a:sym typeface="Inter"/>
              </a:rPr>
              <a:t> </a:t>
            </a:r>
            <a:r>
              <a:rPr lang="en-US" sz="1950" b="0" i="0" u="none" strike="noStrike" cap="none" dirty="0" err="1">
                <a:solidFill>
                  <a:srgbClr val="94A3B8"/>
                </a:solidFill>
                <a:latin typeface="Inter"/>
                <a:ea typeface="Inter"/>
                <a:cs typeface="Inter"/>
                <a:sym typeface="Inter"/>
              </a:rPr>
              <a:t>cội</a:t>
            </a:r>
            <a:r>
              <a:rPr lang="en-US" sz="1950" b="0" i="0" u="none" strike="noStrike" cap="none" dirty="0">
                <a:solidFill>
                  <a:srgbClr val="94A3B8"/>
                </a:solidFill>
                <a:latin typeface="Inter"/>
                <a:ea typeface="Inter"/>
                <a:cs typeface="Inter"/>
                <a:sym typeface="Inter"/>
              </a:rPr>
              <a:t>, </a:t>
            </a:r>
            <a:r>
              <a:rPr lang="en-US" sz="1950" b="0" i="0" u="none" strike="noStrike" cap="none" dirty="0" err="1">
                <a:solidFill>
                  <a:srgbClr val="94A3B8"/>
                </a:solidFill>
                <a:latin typeface="Inter"/>
                <a:ea typeface="Inter"/>
                <a:cs typeface="Inter"/>
                <a:sym typeface="Inter"/>
              </a:rPr>
              <a:t>bảo</a:t>
            </a:r>
            <a:r>
              <a:rPr lang="en-US" sz="1950" b="0" i="0" u="none" strike="noStrike" cap="none" dirty="0">
                <a:solidFill>
                  <a:srgbClr val="94A3B8"/>
                </a:solidFill>
                <a:latin typeface="Inter"/>
                <a:ea typeface="Inter"/>
                <a:cs typeface="Inter"/>
                <a:sym typeface="Inter"/>
              </a:rPr>
              <a:t> </a:t>
            </a:r>
            <a:r>
              <a:rPr lang="en-US" sz="1950" b="0" i="0" u="none" strike="noStrike" cap="none" dirty="0" err="1">
                <a:solidFill>
                  <a:srgbClr val="94A3B8"/>
                </a:solidFill>
                <a:latin typeface="Inter"/>
                <a:ea typeface="Inter"/>
                <a:cs typeface="Inter"/>
                <a:sym typeface="Inter"/>
              </a:rPr>
              <a:t>tồn</a:t>
            </a:r>
            <a:r>
              <a:rPr lang="en-US" sz="1950" b="0" i="0" u="none" strike="noStrike" cap="none" dirty="0">
                <a:solidFill>
                  <a:srgbClr val="94A3B8"/>
                </a:solidFill>
                <a:latin typeface="Inter"/>
                <a:ea typeface="Inter"/>
                <a:cs typeface="Inter"/>
                <a:sym typeface="Inter"/>
              </a:rPr>
              <a:t> di </a:t>
            </a:r>
            <a:r>
              <a:rPr lang="en-US" sz="1950" b="0" i="0" u="none" strike="noStrike" cap="none" dirty="0" err="1">
                <a:solidFill>
                  <a:srgbClr val="94A3B8"/>
                </a:solidFill>
                <a:latin typeface="Inter"/>
                <a:ea typeface="Inter"/>
                <a:cs typeface="Inter"/>
                <a:sym typeface="Inter"/>
              </a:rPr>
              <a:t>sản</a:t>
            </a:r>
            <a:r>
              <a:rPr lang="en-US" sz="1950" b="0" i="0" u="none" strike="noStrike" cap="none" dirty="0">
                <a:solidFill>
                  <a:srgbClr val="94A3B8"/>
                </a:solidFill>
                <a:latin typeface="Inter"/>
                <a:ea typeface="Inter"/>
                <a:cs typeface="Inter"/>
                <a:sym typeface="Inter"/>
              </a:rPr>
              <a:t>.</a:t>
            </a:r>
            <a:endParaRPr dirty="0"/>
          </a:p>
        </p:txBody>
      </p:sp>
      <p:sp>
        <p:nvSpPr>
          <p:cNvPr id="91" name="Google Shape;91;p13"/>
          <p:cNvSpPr txBox="1"/>
          <p:nvPr/>
        </p:nvSpPr>
        <p:spPr>
          <a:xfrm>
            <a:off x="5029200" y="5426273"/>
            <a:ext cx="31051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FFFFFF"/>
                </a:solidFill>
                <a:latin typeface="Inter"/>
                <a:ea typeface="Inter"/>
                <a:cs typeface="Inter"/>
                <a:sym typeface="Inter"/>
              </a:rPr>
              <a:t>TS. Mai Thúy Nga</a:t>
            </a:r>
            <a:endParaRPr/>
          </a:p>
        </p:txBody>
      </p:sp>
      <p:sp>
        <p:nvSpPr>
          <p:cNvPr id="92" name="Google Shape;92;p13"/>
          <p:cNvSpPr txBox="1"/>
          <p:nvPr/>
        </p:nvSpPr>
        <p:spPr>
          <a:xfrm>
            <a:off x="8324850" y="5426273"/>
            <a:ext cx="31051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FFFFFF"/>
                </a:solidFill>
                <a:latin typeface="Inter"/>
                <a:ea typeface="Inter"/>
                <a:cs typeface="Inter"/>
                <a:sym typeface="Inter"/>
              </a:rPr>
              <a:t>Nhóm 2 - CSE703048</a:t>
            </a:r>
            <a:endParaRPr/>
          </a:p>
        </p:txBody>
      </p:sp>
      <p:pic>
        <p:nvPicPr>
          <p:cNvPr id="3" name="Picture 2">
            <a:extLst>
              <a:ext uri="{FF2B5EF4-FFF2-40B4-BE49-F238E27FC236}">
                <a16:creationId xmlns:a16="http://schemas.microsoft.com/office/drawing/2014/main" id="{53B80BDF-2073-20CA-599C-CBB37D54E048}"/>
              </a:ext>
            </a:extLst>
          </p:cNvPr>
          <p:cNvPicPr>
            <a:picLocks noChangeAspect="1"/>
          </p:cNvPicPr>
          <p:nvPr/>
        </p:nvPicPr>
        <p:blipFill>
          <a:blip r:embed="rId7"/>
          <a:stretch>
            <a:fillRect/>
          </a:stretch>
        </p:blipFill>
        <p:spPr>
          <a:xfrm>
            <a:off x="445820" y="1683681"/>
            <a:ext cx="3375560" cy="33689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8" name="Google Shape;98;p14" descr="image.png"/>
          <p:cNvPicPr preferRelativeResize="0"/>
          <p:nvPr/>
        </p:nvPicPr>
        <p:blipFill rotWithShape="1">
          <a:blip r:embed="rId4">
            <a:alphaModFix/>
          </a:blip>
          <a:srcRect/>
          <a:stretch/>
        </p:blipFill>
        <p:spPr>
          <a:xfrm>
            <a:off x="666750" y="6257925"/>
            <a:ext cx="10858500" cy="314325"/>
          </a:xfrm>
          <a:prstGeom prst="rect">
            <a:avLst/>
          </a:prstGeom>
          <a:noFill/>
          <a:ln>
            <a:noFill/>
          </a:ln>
        </p:spPr>
      </p:pic>
      <p:pic>
        <p:nvPicPr>
          <p:cNvPr id="99" name="Google Shape;99;p14" descr="image.png"/>
          <p:cNvPicPr preferRelativeResize="0"/>
          <p:nvPr/>
        </p:nvPicPr>
        <p:blipFill rotWithShape="1">
          <a:blip r:embed="rId5">
            <a:alphaModFix/>
          </a:blip>
          <a:srcRect/>
          <a:stretch/>
        </p:blipFill>
        <p:spPr>
          <a:xfrm>
            <a:off x="666750" y="2190750"/>
            <a:ext cx="3492400" cy="1762125"/>
          </a:xfrm>
          <a:prstGeom prst="rect">
            <a:avLst/>
          </a:prstGeom>
          <a:noFill/>
          <a:ln>
            <a:noFill/>
          </a:ln>
        </p:spPr>
      </p:pic>
      <p:sp>
        <p:nvSpPr>
          <p:cNvPr id="100" name="Google Shape;100;p14"/>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Thành viên thực hiện</a:t>
            </a:r>
            <a:endParaRPr/>
          </a:p>
        </p:txBody>
      </p:sp>
      <p:sp>
        <p:nvSpPr>
          <p:cNvPr id="101" name="Google Shape;101;p14"/>
          <p:cNvSpPr/>
          <p:nvPr/>
        </p:nvSpPr>
        <p:spPr>
          <a:xfrm>
            <a:off x="666750" y="933450"/>
            <a:ext cx="6858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5" name="Google Shape;105;p14" descr="image.png"/>
          <p:cNvPicPr preferRelativeResize="0"/>
          <p:nvPr/>
        </p:nvPicPr>
        <p:blipFill rotWithShape="1">
          <a:blip r:embed="rId6">
            <a:alphaModFix/>
          </a:blip>
          <a:srcRect/>
          <a:stretch/>
        </p:blipFill>
        <p:spPr>
          <a:xfrm>
            <a:off x="962025" y="2486025"/>
            <a:ext cx="2901850" cy="266700"/>
          </a:xfrm>
          <a:prstGeom prst="rect">
            <a:avLst/>
          </a:prstGeom>
          <a:noFill/>
          <a:ln>
            <a:noFill/>
          </a:ln>
        </p:spPr>
      </p:pic>
      <p:sp>
        <p:nvSpPr>
          <p:cNvPr id="106" name="Google Shape;106;p14"/>
          <p:cNvSpPr txBox="1"/>
          <p:nvPr/>
        </p:nvSpPr>
        <p:spPr>
          <a:xfrm>
            <a:off x="889478" y="2895600"/>
            <a:ext cx="3046943"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3366"/>
                </a:solidFill>
                <a:latin typeface="Lexend"/>
                <a:ea typeface="Lexend"/>
                <a:cs typeface="Lexend"/>
                <a:sym typeface="Lexend"/>
              </a:rPr>
              <a:t>Lê Thị Kiều Trang</a:t>
            </a:r>
            <a:endParaRPr/>
          </a:p>
        </p:txBody>
      </p:sp>
      <p:sp>
        <p:nvSpPr>
          <p:cNvPr id="107" name="Google Shape;107;p14"/>
          <p:cNvSpPr txBox="1"/>
          <p:nvPr/>
        </p:nvSpPr>
        <p:spPr>
          <a:xfrm>
            <a:off x="962025" y="3314700"/>
            <a:ext cx="290185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FF823A"/>
                </a:solidFill>
                <a:latin typeface="Inter SemiBold"/>
                <a:ea typeface="Inter SemiBold"/>
                <a:cs typeface="Inter SemiBold"/>
                <a:sym typeface="Inter SemiBold"/>
              </a:rPr>
              <a:t>Trưởng nhóm</a:t>
            </a:r>
            <a:endParaRPr/>
          </a:p>
        </p:txBody>
      </p:sp>
      <p:pic>
        <p:nvPicPr>
          <p:cNvPr id="108" name="Google Shape;108;p14" descr="image.png"/>
          <p:cNvPicPr preferRelativeResize="0"/>
          <p:nvPr/>
        </p:nvPicPr>
        <p:blipFill rotWithShape="1">
          <a:blip r:embed="rId7">
            <a:alphaModFix/>
          </a:blip>
          <a:srcRect/>
          <a:stretch/>
        </p:blipFill>
        <p:spPr>
          <a:xfrm>
            <a:off x="4622751" y="2632405"/>
            <a:ext cx="2901999" cy="266700"/>
          </a:xfrm>
          <a:prstGeom prst="rect">
            <a:avLst/>
          </a:prstGeom>
          <a:noFill/>
          <a:ln>
            <a:noFill/>
          </a:ln>
        </p:spPr>
      </p:pic>
      <p:sp>
        <p:nvSpPr>
          <p:cNvPr id="109" name="Google Shape;109;p14"/>
          <p:cNvSpPr txBox="1"/>
          <p:nvPr/>
        </p:nvSpPr>
        <p:spPr>
          <a:xfrm>
            <a:off x="4477651" y="3124200"/>
            <a:ext cx="3047099"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dirty="0">
                <a:solidFill>
                  <a:srgbClr val="003366"/>
                </a:solidFill>
                <a:latin typeface="Lexend"/>
                <a:ea typeface="Lexend"/>
                <a:cs typeface="Lexend"/>
                <a:sym typeface="Lexend"/>
              </a:rPr>
              <a:t>Quách Hữu Nam</a:t>
            </a:r>
            <a:endParaRPr dirty="0"/>
          </a:p>
        </p:txBody>
      </p:sp>
      <p:pic>
        <p:nvPicPr>
          <p:cNvPr id="110" name="Google Shape;110;p14" descr="image.png"/>
          <p:cNvPicPr preferRelativeResize="0"/>
          <p:nvPr/>
        </p:nvPicPr>
        <p:blipFill rotWithShape="1">
          <a:blip r:embed="rId8">
            <a:alphaModFix/>
          </a:blip>
          <a:srcRect/>
          <a:stretch/>
        </p:blipFill>
        <p:spPr>
          <a:xfrm>
            <a:off x="8315475" y="2619375"/>
            <a:ext cx="2901850" cy="266700"/>
          </a:xfrm>
          <a:prstGeom prst="rect">
            <a:avLst/>
          </a:prstGeom>
          <a:noFill/>
          <a:ln>
            <a:noFill/>
          </a:ln>
        </p:spPr>
      </p:pic>
      <p:sp>
        <p:nvSpPr>
          <p:cNvPr id="111" name="Google Shape;111;p14"/>
          <p:cNvSpPr txBox="1"/>
          <p:nvPr/>
        </p:nvSpPr>
        <p:spPr>
          <a:xfrm>
            <a:off x="8183032" y="3129232"/>
            <a:ext cx="3046943"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dirty="0">
                <a:solidFill>
                  <a:srgbClr val="003366"/>
                </a:solidFill>
                <a:latin typeface="Lexend"/>
                <a:ea typeface="Lexend"/>
                <a:cs typeface="Lexend"/>
                <a:sym typeface="Lexend"/>
              </a:rPr>
              <a:t>Nguyễn Tiến Lực</a:t>
            </a:r>
            <a:endParaRPr dirty="0"/>
          </a:p>
        </p:txBody>
      </p:sp>
      <p:pic>
        <p:nvPicPr>
          <p:cNvPr id="112" name="Google Shape;112;p14" descr="image.png"/>
          <p:cNvPicPr preferRelativeResize="0"/>
          <p:nvPr/>
        </p:nvPicPr>
        <p:blipFill rotWithShape="1">
          <a:blip r:embed="rId8">
            <a:alphaModFix/>
          </a:blip>
          <a:srcRect/>
          <a:stretch/>
        </p:blipFill>
        <p:spPr>
          <a:xfrm>
            <a:off x="962025" y="4305300"/>
            <a:ext cx="2901850" cy="266700"/>
          </a:xfrm>
          <a:prstGeom prst="rect">
            <a:avLst/>
          </a:prstGeom>
          <a:noFill/>
          <a:ln>
            <a:noFill/>
          </a:ln>
        </p:spPr>
      </p:pic>
      <p:sp>
        <p:nvSpPr>
          <p:cNvPr id="113" name="Google Shape;113;p14"/>
          <p:cNvSpPr txBox="1"/>
          <p:nvPr/>
        </p:nvSpPr>
        <p:spPr>
          <a:xfrm>
            <a:off x="889478" y="4848225"/>
            <a:ext cx="3046943"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dirty="0">
                <a:solidFill>
                  <a:srgbClr val="003366"/>
                </a:solidFill>
                <a:latin typeface="Lexend"/>
                <a:ea typeface="Lexend"/>
                <a:cs typeface="Lexend"/>
                <a:sym typeface="Lexend"/>
              </a:rPr>
              <a:t>Triệu Tiến Quỳnh</a:t>
            </a:r>
            <a:endParaRPr dirty="0"/>
          </a:p>
        </p:txBody>
      </p:sp>
      <p:pic>
        <p:nvPicPr>
          <p:cNvPr id="114" name="Google Shape;114;p14" descr="image.png"/>
          <p:cNvPicPr preferRelativeResize="0"/>
          <p:nvPr/>
        </p:nvPicPr>
        <p:blipFill rotWithShape="1">
          <a:blip r:embed="rId7">
            <a:alphaModFix/>
          </a:blip>
          <a:srcRect/>
          <a:stretch/>
        </p:blipFill>
        <p:spPr>
          <a:xfrm>
            <a:off x="4644924" y="4301976"/>
            <a:ext cx="2901999" cy="266700"/>
          </a:xfrm>
          <a:prstGeom prst="rect">
            <a:avLst/>
          </a:prstGeom>
          <a:noFill/>
          <a:ln>
            <a:noFill/>
          </a:ln>
        </p:spPr>
      </p:pic>
      <p:sp>
        <p:nvSpPr>
          <p:cNvPr id="115" name="Google Shape;115;p14"/>
          <p:cNvSpPr txBox="1"/>
          <p:nvPr/>
        </p:nvSpPr>
        <p:spPr>
          <a:xfrm>
            <a:off x="4499824" y="4848225"/>
            <a:ext cx="3047099"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3366"/>
                </a:solidFill>
                <a:latin typeface="Lexend"/>
                <a:ea typeface="Lexend"/>
                <a:cs typeface="Lexend"/>
                <a:sym typeface="Lexend"/>
              </a:rPr>
              <a:t>Đỗ Hồng Thái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9"/>
        <p:cNvGrpSpPr/>
        <p:nvPr/>
      </p:nvGrpSpPr>
      <p:grpSpPr>
        <a:xfrm>
          <a:off x="0" y="0"/>
          <a:ext cx="0" cy="0"/>
          <a:chOff x="0" y="0"/>
          <a:chExt cx="0" cy="0"/>
        </a:xfrm>
      </p:grpSpPr>
      <p:pic>
        <p:nvPicPr>
          <p:cNvPr id="120" name="Google Shape;12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1" name="Google Shape;121;p15" descr="image.png"/>
          <p:cNvPicPr preferRelativeResize="0"/>
          <p:nvPr/>
        </p:nvPicPr>
        <p:blipFill rotWithShape="1">
          <a:blip r:embed="rId4">
            <a:alphaModFix/>
          </a:blip>
          <a:srcRect/>
          <a:stretch/>
        </p:blipFill>
        <p:spPr>
          <a:xfrm>
            <a:off x="666750" y="1371600"/>
            <a:ext cx="10858500" cy="876300"/>
          </a:xfrm>
          <a:prstGeom prst="rect">
            <a:avLst/>
          </a:prstGeom>
          <a:noFill/>
          <a:ln>
            <a:noFill/>
          </a:ln>
        </p:spPr>
      </p:pic>
      <p:pic>
        <p:nvPicPr>
          <p:cNvPr id="123" name="Google Shape;123;p15" descr="image.png"/>
          <p:cNvPicPr preferRelativeResize="0"/>
          <p:nvPr/>
        </p:nvPicPr>
        <p:blipFill rotWithShape="1">
          <a:blip r:embed="rId4">
            <a:alphaModFix/>
          </a:blip>
          <a:srcRect/>
          <a:stretch/>
        </p:blipFill>
        <p:spPr>
          <a:xfrm>
            <a:off x="666750" y="3409950"/>
            <a:ext cx="10858500" cy="876300"/>
          </a:xfrm>
          <a:prstGeom prst="rect">
            <a:avLst/>
          </a:prstGeom>
          <a:noFill/>
          <a:ln>
            <a:noFill/>
          </a:ln>
        </p:spPr>
      </p:pic>
      <p:pic>
        <p:nvPicPr>
          <p:cNvPr id="124" name="Google Shape;124;p15" descr="image.png"/>
          <p:cNvPicPr preferRelativeResize="0"/>
          <p:nvPr/>
        </p:nvPicPr>
        <p:blipFill rotWithShape="1">
          <a:blip r:embed="rId4">
            <a:alphaModFix/>
          </a:blip>
          <a:srcRect/>
          <a:stretch/>
        </p:blipFill>
        <p:spPr>
          <a:xfrm>
            <a:off x="666750" y="4429125"/>
            <a:ext cx="10858500" cy="876300"/>
          </a:xfrm>
          <a:prstGeom prst="rect">
            <a:avLst/>
          </a:prstGeom>
          <a:noFill/>
          <a:ln>
            <a:noFill/>
          </a:ln>
        </p:spPr>
      </p:pic>
      <p:pic>
        <p:nvPicPr>
          <p:cNvPr id="125" name="Google Shape;125;p15" descr="image.png"/>
          <p:cNvPicPr preferRelativeResize="0"/>
          <p:nvPr/>
        </p:nvPicPr>
        <p:blipFill rotWithShape="1">
          <a:blip r:embed="rId4">
            <a:alphaModFix/>
          </a:blip>
          <a:srcRect/>
          <a:stretch/>
        </p:blipFill>
        <p:spPr>
          <a:xfrm>
            <a:off x="666750" y="5448300"/>
            <a:ext cx="10858500" cy="876300"/>
          </a:xfrm>
          <a:prstGeom prst="rect">
            <a:avLst/>
          </a:prstGeom>
          <a:noFill/>
          <a:ln>
            <a:noFill/>
          </a:ln>
        </p:spPr>
      </p:pic>
      <p:pic>
        <p:nvPicPr>
          <p:cNvPr id="126" name="Google Shape;126;p15" descr="image.png"/>
          <p:cNvPicPr preferRelativeResize="0"/>
          <p:nvPr/>
        </p:nvPicPr>
        <p:blipFill rotWithShape="1">
          <a:blip r:embed="rId5">
            <a:alphaModFix/>
          </a:blip>
          <a:srcRect/>
          <a:stretch/>
        </p:blipFill>
        <p:spPr>
          <a:xfrm>
            <a:off x="866775" y="1571625"/>
            <a:ext cx="476250" cy="476250"/>
          </a:xfrm>
          <a:prstGeom prst="rect">
            <a:avLst/>
          </a:prstGeom>
          <a:noFill/>
          <a:ln>
            <a:noFill/>
          </a:ln>
        </p:spPr>
      </p:pic>
      <p:pic>
        <p:nvPicPr>
          <p:cNvPr id="128" name="Google Shape;128;p15" descr="image.png"/>
          <p:cNvPicPr preferRelativeResize="0"/>
          <p:nvPr/>
        </p:nvPicPr>
        <p:blipFill rotWithShape="1">
          <a:blip r:embed="rId6">
            <a:alphaModFix/>
          </a:blip>
          <a:srcRect/>
          <a:stretch/>
        </p:blipFill>
        <p:spPr>
          <a:xfrm>
            <a:off x="866775" y="3609975"/>
            <a:ext cx="476250" cy="476250"/>
          </a:xfrm>
          <a:prstGeom prst="rect">
            <a:avLst/>
          </a:prstGeom>
          <a:noFill/>
          <a:ln>
            <a:noFill/>
          </a:ln>
        </p:spPr>
      </p:pic>
      <p:pic>
        <p:nvPicPr>
          <p:cNvPr id="129" name="Google Shape;129;p15" descr="image.png"/>
          <p:cNvPicPr preferRelativeResize="0"/>
          <p:nvPr/>
        </p:nvPicPr>
        <p:blipFill rotWithShape="1">
          <a:blip r:embed="rId7">
            <a:alphaModFix/>
          </a:blip>
          <a:srcRect/>
          <a:stretch/>
        </p:blipFill>
        <p:spPr>
          <a:xfrm>
            <a:off x="866775" y="4629150"/>
            <a:ext cx="476250" cy="476250"/>
          </a:xfrm>
          <a:prstGeom prst="rect">
            <a:avLst/>
          </a:prstGeom>
          <a:noFill/>
          <a:ln>
            <a:noFill/>
          </a:ln>
        </p:spPr>
      </p:pic>
      <p:pic>
        <p:nvPicPr>
          <p:cNvPr id="130" name="Google Shape;130;p15" descr="image.png"/>
          <p:cNvPicPr preferRelativeResize="0"/>
          <p:nvPr/>
        </p:nvPicPr>
        <p:blipFill rotWithShape="1">
          <a:blip r:embed="rId8">
            <a:alphaModFix/>
          </a:blip>
          <a:srcRect/>
          <a:stretch/>
        </p:blipFill>
        <p:spPr>
          <a:xfrm>
            <a:off x="866775" y="5648325"/>
            <a:ext cx="476250" cy="476250"/>
          </a:xfrm>
          <a:prstGeom prst="rect">
            <a:avLst/>
          </a:prstGeom>
          <a:noFill/>
          <a:ln>
            <a:noFill/>
          </a:ln>
        </p:spPr>
      </p:pic>
      <p:sp>
        <p:nvSpPr>
          <p:cNvPr id="131" name="Google Shape;131;p15"/>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Nội dung báo cáo</a:t>
            </a:r>
            <a:endParaRPr/>
          </a:p>
        </p:txBody>
      </p:sp>
      <p:sp>
        <p:nvSpPr>
          <p:cNvPr id="132" name="Google Shape;132;p15"/>
          <p:cNvSpPr/>
          <p:nvPr/>
        </p:nvSpPr>
        <p:spPr>
          <a:xfrm>
            <a:off x="666750" y="933450"/>
            <a:ext cx="74199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5"/>
          <p:cNvSpPr txBox="1"/>
          <p:nvPr/>
        </p:nvSpPr>
        <p:spPr>
          <a:xfrm>
            <a:off x="1628775" y="1685925"/>
            <a:ext cx="3371850"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dirty="0" err="1">
                <a:solidFill>
                  <a:srgbClr val="003366"/>
                </a:solidFill>
                <a:latin typeface="Inter SemiBold"/>
                <a:ea typeface="Inter SemiBold"/>
                <a:cs typeface="Inter SemiBold"/>
                <a:sym typeface="Inter SemiBold"/>
              </a:rPr>
              <a:t>Yêu</a:t>
            </a:r>
            <a:r>
              <a:rPr lang="en-US" sz="1650" b="0" i="0" u="none" strike="noStrike" cap="none" dirty="0">
                <a:solidFill>
                  <a:srgbClr val="003366"/>
                </a:solidFill>
                <a:latin typeface="Inter SemiBold"/>
                <a:ea typeface="Inter SemiBold"/>
                <a:cs typeface="Inter SemiBold"/>
                <a:sym typeface="Inter SemiBold"/>
              </a:rPr>
              <a:t> </a:t>
            </a:r>
            <a:r>
              <a:rPr lang="en-US" sz="1650" b="0" i="0" u="none" strike="noStrike" cap="none" dirty="0" err="1">
                <a:solidFill>
                  <a:srgbClr val="003366"/>
                </a:solidFill>
                <a:latin typeface="Inter SemiBold"/>
                <a:ea typeface="Inter SemiBold"/>
                <a:cs typeface="Inter SemiBold"/>
                <a:sym typeface="Inter SemiBold"/>
              </a:rPr>
              <a:t>cầu</a:t>
            </a:r>
            <a:r>
              <a:rPr lang="en-US" sz="1650" b="0" i="0" u="none" strike="noStrike" cap="none" dirty="0">
                <a:solidFill>
                  <a:srgbClr val="003366"/>
                </a:solidFill>
                <a:latin typeface="Inter SemiBold"/>
                <a:ea typeface="Inter SemiBold"/>
                <a:cs typeface="Inter SemiBold"/>
                <a:sym typeface="Inter SemiBold"/>
              </a:rPr>
              <a:t> </a:t>
            </a:r>
            <a:r>
              <a:rPr lang="en-US" sz="1650" b="0" i="0" u="none" strike="noStrike" cap="none" dirty="0" err="1">
                <a:solidFill>
                  <a:srgbClr val="003366"/>
                </a:solidFill>
                <a:latin typeface="Inter SemiBold"/>
                <a:ea typeface="Inter SemiBold"/>
                <a:cs typeface="Inter SemiBold"/>
                <a:sym typeface="Inter SemiBold"/>
              </a:rPr>
              <a:t>hệ</a:t>
            </a:r>
            <a:r>
              <a:rPr lang="en-US" sz="1650" b="0" i="0" u="none" strike="noStrike" cap="none" dirty="0">
                <a:solidFill>
                  <a:srgbClr val="003366"/>
                </a:solidFill>
                <a:latin typeface="Inter SemiBold"/>
                <a:ea typeface="Inter SemiBold"/>
                <a:cs typeface="Inter SemiBold"/>
                <a:sym typeface="Inter SemiBold"/>
              </a:rPr>
              <a:t> </a:t>
            </a:r>
            <a:r>
              <a:rPr lang="en-US" sz="1650" b="0" i="0" u="none" strike="noStrike" cap="none" dirty="0" err="1">
                <a:solidFill>
                  <a:srgbClr val="003366"/>
                </a:solidFill>
                <a:latin typeface="Inter SemiBold"/>
                <a:ea typeface="Inter SemiBold"/>
                <a:cs typeface="Inter SemiBold"/>
                <a:sym typeface="Inter SemiBold"/>
              </a:rPr>
              <a:t>thống</a:t>
            </a:r>
            <a:r>
              <a:rPr lang="en-US" sz="1650" b="0" i="0" u="none" strike="noStrike" cap="none" dirty="0">
                <a:solidFill>
                  <a:srgbClr val="003366"/>
                </a:solidFill>
                <a:latin typeface="Inter SemiBold"/>
                <a:ea typeface="Inter SemiBold"/>
                <a:cs typeface="Inter SemiBold"/>
                <a:sym typeface="Inter SemiBold"/>
              </a:rPr>
              <a:t> (Requirements)</a:t>
            </a:r>
            <a:endParaRPr dirty="0"/>
          </a:p>
        </p:txBody>
      </p:sp>
      <p:sp>
        <p:nvSpPr>
          <p:cNvPr id="138" name="Google Shape;138;p15"/>
          <p:cNvSpPr txBox="1"/>
          <p:nvPr/>
        </p:nvSpPr>
        <p:spPr>
          <a:xfrm>
            <a:off x="1628775" y="3724275"/>
            <a:ext cx="2686050"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03366"/>
                </a:solidFill>
                <a:latin typeface="Inter SemiBold"/>
                <a:ea typeface="Inter SemiBold"/>
                <a:cs typeface="Inter SemiBold"/>
                <a:sym typeface="Inter SemiBold"/>
              </a:rPr>
              <a:t>Thiết kế hệ thống (Design)</a:t>
            </a:r>
            <a:endParaRPr/>
          </a:p>
        </p:txBody>
      </p:sp>
      <p:sp>
        <p:nvSpPr>
          <p:cNvPr id="140" name="Google Shape;140;p15"/>
          <p:cNvSpPr txBox="1"/>
          <p:nvPr/>
        </p:nvSpPr>
        <p:spPr>
          <a:xfrm>
            <a:off x="1628775" y="4743450"/>
            <a:ext cx="2514600"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03366"/>
                </a:solidFill>
                <a:latin typeface="Inter SemiBold"/>
                <a:ea typeface="Inter SemiBold"/>
                <a:cs typeface="Inter SemiBold"/>
                <a:sym typeface="Inter SemiBold"/>
              </a:rPr>
              <a:t>Cài đặt (Implementation)</a:t>
            </a:r>
            <a:endParaRPr/>
          </a:p>
        </p:txBody>
      </p:sp>
      <p:sp>
        <p:nvSpPr>
          <p:cNvPr id="142" name="Google Shape;142;p15"/>
          <p:cNvSpPr txBox="1"/>
          <p:nvPr/>
        </p:nvSpPr>
        <p:spPr>
          <a:xfrm>
            <a:off x="1628775" y="5762625"/>
            <a:ext cx="187642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003366"/>
                </a:solidFill>
                <a:latin typeface="Inter SemiBold"/>
                <a:ea typeface="Inter SemiBold"/>
                <a:cs typeface="Inter SemiBold"/>
                <a:sym typeface="Inter SemiBold"/>
              </a:rPr>
              <a:t>Kết luận &amp; Đề xuất</a:t>
            </a:r>
            <a:endParaRPr/>
          </a:p>
        </p:txBody>
      </p:sp>
      <p:pic>
        <p:nvPicPr>
          <p:cNvPr id="2" name="Google Shape;123;p15" descr="image.png">
            <a:extLst>
              <a:ext uri="{FF2B5EF4-FFF2-40B4-BE49-F238E27FC236}">
                <a16:creationId xmlns:a16="http://schemas.microsoft.com/office/drawing/2014/main" id="{98EF3B54-ADA2-EFB6-EB6C-648B9A783137}"/>
              </a:ext>
            </a:extLst>
          </p:cNvPr>
          <p:cNvPicPr preferRelativeResize="0"/>
          <p:nvPr/>
        </p:nvPicPr>
        <p:blipFill rotWithShape="1">
          <a:blip r:embed="rId4">
            <a:alphaModFix/>
          </a:blip>
          <a:srcRect/>
          <a:stretch/>
        </p:blipFill>
        <p:spPr>
          <a:xfrm>
            <a:off x="666750" y="2403175"/>
            <a:ext cx="10858500" cy="876300"/>
          </a:xfrm>
          <a:prstGeom prst="rect">
            <a:avLst/>
          </a:prstGeom>
          <a:noFill/>
          <a:ln>
            <a:noFill/>
          </a:ln>
        </p:spPr>
      </p:pic>
      <p:pic>
        <p:nvPicPr>
          <p:cNvPr id="3" name="Google Shape;127;p15" descr="image.png"/>
          <p:cNvPicPr preferRelativeResize="0"/>
          <p:nvPr/>
        </p:nvPicPr>
        <p:blipFill rotWithShape="1">
          <a:blip r:embed="rId9">
            <a:alphaModFix/>
          </a:blip>
          <a:srcRect/>
          <a:stretch/>
        </p:blipFill>
        <p:spPr>
          <a:xfrm>
            <a:off x="852038" y="2610120"/>
            <a:ext cx="476250" cy="476250"/>
          </a:xfrm>
          <a:prstGeom prst="rect">
            <a:avLst/>
          </a:prstGeom>
          <a:noFill/>
          <a:ln>
            <a:noFill/>
          </a:ln>
        </p:spPr>
      </p:pic>
      <p:sp>
        <p:nvSpPr>
          <p:cNvPr id="5" name="TextBox 4">
            <a:extLst>
              <a:ext uri="{FF2B5EF4-FFF2-40B4-BE49-F238E27FC236}">
                <a16:creationId xmlns:a16="http://schemas.microsoft.com/office/drawing/2014/main" id="{BA0E5C4E-FA64-1CD3-60CE-E1727ABD8132}"/>
              </a:ext>
            </a:extLst>
          </p:cNvPr>
          <p:cNvSpPr txBox="1"/>
          <p:nvPr/>
        </p:nvSpPr>
        <p:spPr>
          <a:xfrm>
            <a:off x="1513576" y="2694356"/>
            <a:ext cx="6094562" cy="346249"/>
          </a:xfrm>
          <a:prstGeom prst="rect">
            <a:avLst/>
          </a:prstGeom>
          <a:noFill/>
        </p:spPr>
        <p:txBody>
          <a:bodyPr wrap="square">
            <a:spAutoFit/>
          </a:bodyPr>
          <a:lstStyle/>
          <a:p>
            <a:pPr marL="0" marR="0" lvl="0" indent="0" algn="l" rtl="0">
              <a:spcBef>
                <a:spcPts val="0"/>
              </a:spcBef>
              <a:spcAft>
                <a:spcPts val="0"/>
              </a:spcAft>
              <a:buNone/>
            </a:pPr>
            <a:r>
              <a:rPr lang="vi-VN" sz="1650" b="0" i="0" u="none" strike="noStrike" cap="none" dirty="0">
                <a:solidFill>
                  <a:srgbClr val="003366"/>
                </a:solidFill>
                <a:latin typeface="Inter SemiBold"/>
                <a:ea typeface="Inter SemiBold"/>
                <a:cs typeface="Inter SemiBold"/>
                <a:sym typeface="Inter SemiBold"/>
              </a:rPr>
              <a:t>Phân tích trường hợp sử dụng (Use-case)</a:t>
            </a:r>
            <a:endParaRPr lang="vi-VN"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46"/>
        <p:cNvGrpSpPr/>
        <p:nvPr/>
      </p:nvGrpSpPr>
      <p:grpSpPr>
        <a:xfrm>
          <a:off x="0" y="0"/>
          <a:ext cx="0" cy="0"/>
          <a:chOff x="0" y="0"/>
          <a:chExt cx="0" cy="0"/>
        </a:xfrm>
      </p:grpSpPr>
      <p:pic>
        <p:nvPicPr>
          <p:cNvPr id="147" name="Google Shape;147;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8" name="Google Shape;148;p16" descr="image.png"/>
          <p:cNvPicPr preferRelativeResize="0"/>
          <p:nvPr/>
        </p:nvPicPr>
        <p:blipFill rotWithShape="1">
          <a:blip r:embed="rId4">
            <a:alphaModFix/>
          </a:blip>
          <a:srcRect/>
          <a:stretch/>
        </p:blipFill>
        <p:spPr>
          <a:xfrm>
            <a:off x="666750" y="1943100"/>
            <a:ext cx="3429000" cy="3810000"/>
          </a:xfrm>
          <a:prstGeom prst="rect">
            <a:avLst/>
          </a:prstGeom>
          <a:noFill/>
          <a:ln>
            <a:noFill/>
          </a:ln>
        </p:spPr>
      </p:pic>
      <p:pic>
        <p:nvPicPr>
          <p:cNvPr id="149" name="Google Shape;149;p16" descr="image.png"/>
          <p:cNvPicPr preferRelativeResize="0"/>
          <p:nvPr/>
        </p:nvPicPr>
        <p:blipFill rotWithShape="1">
          <a:blip r:embed="rId4">
            <a:alphaModFix/>
          </a:blip>
          <a:srcRect/>
          <a:stretch/>
        </p:blipFill>
        <p:spPr>
          <a:xfrm>
            <a:off x="4381500" y="1943100"/>
            <a:ext cx="3429000" cy="3810000"/>
          </a:xfrm>
          <a:prstGeom prst="rect">
            <a:avLst/>
          </a:prstGeom>
          <a:noFill/>
          <a:ln>
            <a:noFill/>
          </a:ln>
        </p:spPr>
      </p:pic>
      <p:pic>
        <p:nvPicPr>
          <p:cNvPr id="150" name="Google Shape;150;p16" descr="image.png"/>
          <p:cNvPicPr preferRelativeResize="0"/>
          <p:nvPr/>
        </p:nvPicPr>
        <p:blipFill rotWithShape="1">
          <a:blip r:embed="rId4">
            <a:alphaModFix/>
          </a:blip>
          <a:srcRect/>
          <a:stretch/>
        </p:blipFill>
        <p:spPr>
          <a:xfrm>
            <a:off x="8096250" y="1943100"/>
            <a:ext cx="3429000" cy="3810000"/>
          </a:xfrm>
          <a:prstGeom prst="rect">
            <a:avLst/>
          </a:prstGeom>
          <a:noFill/>
          <a:ln>
            <a:noFill/>
          </a:ln>
        </p:spPr>
      </p:pic>
      <p:sp>
        <p:nvSpPr>
          <p:cNvPr id="151" name="Google Shape;151;p16"/>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1. Đặt vấn đề</a:t>
            </a:r>
            <a:endParaRPr/>
          </a:p>
        </p:txBody>
      </p:sp>
      <p:sp>
        <p:nvSpPr>
          <p:cNvPr id="152" name="Google Shape;152;p16"/>
          <p:cNvSpPr/>
          <p:nvPr/>
        </p:nvSpPr>
        <p:spPr>
          <a:xfrm>
            <a:off x="666750" y="933450"/>
            <a:ext cx="82867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4" name="Google Shape;154;p16" descr="image.png"/>
          <p:cNvPicPr preferRelativeResize="0"/>
          <p:nvPr/>
        </p:nvPicPr>
        <p:blipFill rotWithShape="1">
          <a:blip r:embed="rId5">
            <a:alphaModFix/>
          </a:blip>
          <a:srcRect/>
          <a:stretch/>
        </p:blipFill>
        <p:spPr>
          <a:xfrm>
            <a:off x="962025" y="2871787"/>
            <a:ext cx="2838450" cy="571500"/>
          </a:xfrm>
          <a:prstGeom prst="rect">
            <a:avLst/>
          </a:prstGeom>
          <a:noFill/>
          <a:ln>
            <a:noFill/>
          </a:ln>
        </p:spPr>
      </p:pic>
      <p:sp>
        <p:nvSpPr>
          <p:cNvPr id="155" name="Google Shape;155;p16"/>
          <p:cNvSpPr txBox="1"/>
          <p:nvPr/>
        </p:nvSpPr>
        <p:spPr>
          <a:xfrm>
            <a:off x="891063" y="3586162"/>
            <a:ext cx="2980372"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3366"/>
                </a:solidFill>
                <a:latin typeface="Lexend"/>
                <a:ea typeface="Lexend"/>
                <a:cs typeface="Lexend"/>
                <a:sym typeface="Lexend"/>
              </a:rPr>
              <a:t>Lưu trữ thủ công</a:t>
            </a:r>
            <a:endParaRPr/>
          </a:p>
        </p:txBody>
      </p:sp>
      <p:sp>
        <p:nvSpPr>
          <p:cNvPr id="156" name="Google Shape;156;p16"/>
          <p:cNvSpPr txBox="1"/>
          <p:nvPr/>
        </p:nvSpPr>
        <p:spPr>
          <a:xfrm>
            <a:off x="962025" y="4100512"/>
            <a:ext cx="283845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Sổ sách giấy tờ dễ bị mục nát, hư hỏng hoặc thất lạc thông tin quý giá qua các thế hệ.</a:t>
            </a:r>
            <a:endParaRPr/>
          </a:p>
        </p:txBody>
      </p:sp>
      <p:pic>
        <p:nvPicPr>
          <p:cNvPr id="158" name="Google Shape;158;p16" descr="image.png"/>
          <p:cNvPicPr preferRelativeResize="0"/>
          <p:nvPr/>
        </p:nvPicPr>
        <p:blipFill rotWithShape="1">
          <a:blip r:embed="rId6">
            <a:alphaModFix/>
          </a:blip>
          <a:srcRect/>
          <a:stretch/>
        </p:blipFill>
        <p:spPr>
          <a:xfrm>
            <a:off x="4676775" y="2871787"/>
            <a:ext cx="2838450" cy="571500"/>
          </a:xfrm>
          <a:prstGeom prst="rect">
            <a:avLst/>
          </a:prstGeom>
          <a:noFill/>
          <a:ln>
            <a:noFill/>
          </a:ln>
        </p:spPr>
      </p:pic>
      <p:sp>
        <p:nvSpPr>
          <p:cNvPr id="159" name="Google Shape;159;p16"/>
          <p:cNvSpPr txBox="1"/>
          <p:nvPr/>
        </p:nvSpPr>
        <p:spPr>
          <a:xfrm>
            <a:off x="4605813" y="3586162"/>
            <a:ext cx="2980372"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3366"/>
                </a:solidFill>
                <a:latin typeface="Lexend"/>
                <a:ea typeface="Lexend"/>
                <a:cs typeface="Lexend"/>
                <a:sym typeface="Lexend"/>
              </a:rPr>
              <a:t>Tra cứu phức tạp</a:t>
            </a:r>
            <a:endParaRPr/>
          </a:p>
        </p:txBody>
      </p:sp>
      <p:sp>
        <p:nvSpPr>
          <p:cNvPr id="160" name="Google Shape;160;p16"/>
          <p:cNvSpPr txBox="1"/>
          <p:nvPr/>
        </p:nvSpPr>
        <p:spPr>
          <a:xfrm>
            <a:off x="4676775" y="4100512"/>
            <a:ext cx="283845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Việc xác định quan hệ huyết thống giữa hàng nghìn thành viên mất rất nhiều thời gian và dễ sai sót.</a:t>
            </a:r>
            <a:endParaRPr/>
          </a:p>
        </p:txBody>
      </p:sp>
      <p:pic>
        <p:nvPicPr>
          <p:cNvPr id="162" name="Google Shape;162;p16" descr="image.png"/>
          <p:cNvPicPr preferRelativeResize="0"/>
          <p:nvPr/>
        </p:nvPicPr>
        <p:blipFill rotWithShape="1">
          <a:blip r:embed="rId7">
            <a:alphaModFix/>
          </a:blip>
          <a:srcRect/>
          <a:stretch/>
        </p:blipFill>
        <p:spPr>
          <a:xfrm>
            <a:off x="8391525" y="2871787"/>
            <a:ext cx="2838450" cy="571500"/>
          </a:xfrm>
          <a:prstGeom prst="rect">
            <a:avLst/>
          </a:prstGeom>
          <a:noFill/>
          <a:ln>
            <a:noFill/>
          </a:ln>
        </p:spPr>
      </p:pic>
      <p:sp>
        <p:nvSpPr>
          <p:cNvPr id="163" name="Google Shape;163;p16"/>
          <p:cNvSpPr txBox="1"/>
          <p:nvPr/>
        </p:nvSpPr>
        <p:spPr>
          <a:xfrm>
            <a:off x="8320563" y="3586162"/>
            <a:ext cx="2980372"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3366"/>
                </a:solidFill>
                <a:latin typeface="Lexend"/>
                <a:ea typeface="Lexend"/>
                <a:cs typeface="Lexend"/>
                <a:sym typeface="Lexend"/>
              </a:rPr>
              <a:t>Rào cản địa lý</a:t>
            </a:r>
            <a:endParaRPr/>
          </a:p>
        </p:txBody>
      </p:sp>
      <p:sp>
        <p:nvSpPr>
          <p:cNvPr id="164" name="Google Shape;164;p16"/>
          <p:cNvSpPr txBox="1"/>
          <p:nvPr/>
        </p:nvSpPr>
        <p:spPr>
          <a:xfrm>
            <a:off x="8391525" y="4100512"/>
            <a:ext cx="283845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Con cháu sinh sống ở nhiều nơi khó có thể tiếp cận và cập nhật biến động nhân khẩu kịp thời.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68"/>
        <p:cNvGrpSpPr/>
        <p:nvPr/>
      </p:nvGrpSpPr>
      <p:grpSpPr>
        <a:xfrm>
          <a:off x="0" y="0"/>
          <a:ext cx="0" cy="0"/>
          <a:chOff x="0" y="0"/>
          <a:chExt cx="0" cy="0"/>
        </a:xfrm>
      </p:grpSpPr>
      <p:pic>
        <p:nvPicPr>
          <p:cNvPr id="169" name="Google Shape;169;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0" name="Google Shape;170;p17" descr="image.png"/>
          <p:cNvPicPr preferRelativeResize="0"/>
          <p:nvPr/>
        </p:nvPicPr>
        <p:blipFill rotWithShape="1">
          <a:blip r:embed="rId4">
            <a:alphaModFix/>
          </a:blip>
          <a:srcRect/>
          <a:stretch/>
        </p:blipFill>
        <p:spPr>
          <a:xfrm>
            <a:off x="666750" y="2209800"/>
            <a:ext cx="5334000" cy="1543050"/>
          </a:xfrm>
          <a:prstGeom prst="rect">
            <a:avLst/>
          </a:prstGeom>
          <a:noFill/>
          <a:ln>
            <a:noFill/>
          </a:ln>
        </p:spPr>
      </p:pic>
      <p:pic>
        <p:nvPicPr>
          <p:cNvPr id="171" name="Google Shape;171;p17" descr="image.png"/>
          <p:cNvPicPr preferRelativeResize="0"/>
          <p:nvPr/>
        </p:nvPicPr>
        <p:blipFill rotWithShape="1">
          <a:blip r:embed="rId4">
            <a:alphaModFix/>
          </a:blip>
          <a:srcRect/>
          <a:stretch/>
        </p:blipFill>
        <p:spPr>
          <a:xfrm>
            <a:off x="6191250" y="2209800"/>
            <a:ext cx="5334000" cy="1543050"/>
          </a:xfrm>
          <a:prstGeom prst="rect">
            <a:avLst/>
          </a:prstGeom>
          <a:noFill/>
          <a:ln>
            <a:noFill/>
          </a:ln>
        </p:spPr>
      </p:pic>
      <p:pic>
        <p:nvPicPr>
          <p:cNvPr id="172" name="Google Shape;172;p17" descr="image.png"/>
          <p:cNvPicPr preferRelativeResize="0"/>
          <p:nvPr/>
        </p:nvPicPr>
        <p:blipFill rotWithShape="1">
          <a:blip r:embed="rId4">
            <a:alphaModFix/>
          </a:blip>
          <a:srcRect/>
          <a:stretch/>
        </p:blipFill>
        <p:spPr>
          <a:xfrm>
            <a:off x="666750" y="3943350"/>
            <a:ext cx="5334000" cy="1543050"/>
          </a:xfrm>
          <a:prstGeom prst="rect">
            <a:avLst/>
          </a:prstGeom>
          <a:noFill/>
          <a:ln>
            <a:noFill/>
          </a:ln>
        </p:spPr>
      </p:pic>
      <p:pic>
        <p:nvPicPr>
          <p:cNvPr id="173" name="Google Shape;173;p17" descr="image.png"/>
          <p:cNvPicPr preferRelativeResize="0"/>
          <p:nvPr/>
        </p:nvPicPr>
        <p:blipFill rotWithShape="1">
          <a:blip r:embed="rId4">
            <a:alphaModFix/>
          </a:blip>
          <a:srcRect/>
          <a:stretch/>
        </p:blipFill>
        <p:spPr>
          <a:xfrm>
            <a:off x="6191250" y="3943350"/>
            <a:ext cx="5334000" cy="1543050"/>
          </a:xfrm>
          <a:prstGeom prst="rect">
            <a:avLst/>
          </a:prstGeom>
          <a:noFill/>
          <a:ln>
            <a:noFill/>
          </a:ln>
        </p:spPr>
      </p:pic>
      <p:sp>
        <p:nvSpPr>
          <p:cNvPr id="174" name="Google Shape;174;p17"/>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Mục tiêu dự án</a:t>
            </a:r>
            <a:endParaRPr/>
          </a:p>
        </p:txBody>
      </p:sp>
      <p:sp>
        <p:nvSpPr>
          <p:cNvPr id="175" name="Google Shape;175;p17"/>
          <p:cNvSpPr/>
          <p:nvPr/>
        </p:nvSpPr>
        <p:spPr>
          <a:xfrm>
            <a:off x="666750" y="933450"/>
            <a:ext cx="8001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17"/>
          <p:cNvSpPr txBox="1"/>
          <p:nvPr/>
        </p:nvSpPr>
        <p:spPr>
          <a:xfrm>
            <a:off x="962025" y="2505075"/>
            <a:ext cx="4980622"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err="1">
                <a:solidFill>
                  <a:srgbClr val="003366"/>
                </a:solidFill>
                <a:latin typeface="Lexend"/>
                <a:ea typeface="Lexend"/>
                <a:cs typeface="Lexend"/>
                <a:sym typeface="Lexend"/>
              </a:rPr>
              <a:t>Số</a:t>
            </a:r>
            <a:r>
              <a:rPr lang="en-US" sz="1650" b="1" i="0" u="none" strike="noStrike" cap="none" dirty="0">
                <a:solidFill>
                  <a:srgbClr val="003366"/>
                </a:solidFill>
                <a:latin typeface="Lexend"/>
                <a:ea typeface="Lexend"/>
                <a:cs typeface="Lexend"/>
                <a:sym typeface="Lexend"/>
              </a:rPr>
              <a:t> </a:t>
            </a:r>
            <a:r>
              <a:rPr lang="en-US" sz="1650" b="1" i="0" u="none" strike="noStrike" cap="none" dirty="0" err="1">
                <a:solidFill>
                  <a:srgbClr val="003366"/>
                </a:solidFill>
                <a:latin typeface="Lexend"/>
                <a:ea typeface="Lexend"/>
                <a:cs typeface="Lexend"/>
                <a:sym typeface="Lexend"/>
              </a:rPr>
              <a:t>hóa</a:t>
            </a:r>
            <a:r>
              <a:rPr lang="en-US" sz="1650" b="1" i="0" u="none" strike="noStrike" cap="none" dirty="0">
                <a:solidFill>
                  <a:srgbClr val="003366"/>
                </a:solidFill>
                <a:latin typeface="Lexend"/>
                <a:ea typeface="Lexend"/>
                <a:cs typeface="Lexend"/>
                <a:sym typeface="Lexend"/>
              </a:rPr>
              <a:t> </a:t>
            </a:r>
            <a:r>
              <a:rPr lang="en-US" sz="1650" b="1" i="0" u="none" strike="noStrike" cap="none" dirty="0" err="1">
                <a:solidFill>
                  <a:srgbClr val="003366"/>
                </a:solidFill>
                <a:latin typeface="Lexend"/>
                <a:ea typeface="Lexend"/>
                <a:cs typeface="Lexend"/>
                <a:sym typeface="Lexend"/>
              </a:rPr>
              <a:t>gia</a:t>
            </a:r>
            <a:r>
              <a:rPr lang="en-US" sz="1650" b="1" i="0" u="none" strike="noStrike" cap="none" dirty="0">
                <a:solidFill>
                  <a:srgbClr val="003366"/>
                </a:solidFill>
                <a:latin typeface="Lexend"/>
                <a:ea typeface="Lexend"/>
                <a:cs typeface="Lexend"/>
                <a:sym typeface="Lexend"/>
              </a:rPr>
              <a:t> </a:t>
            </a:r>
            <a:r>
              <a:rPr lang="en-US" sz="1650" b="1" i="0" u="none" strike="noStrike" cap="none" dirty="0" err="1">
                <a:solidFill>
                  <a:srgbClr val="003366"/>
                </a:solidFill>
                <a:latin typeface="Lexend"/>
                <a:ea typeface="Lexend"/>
                <a:cs typeface="Lexend"/>
                <a:sym typeface="Lexend"/>
              </a:rPr>
              <a:t>phả</a:t>
            </a:r>
            <a:endParaRPr dirty="0"/>
          </a:p>
        </p:txBody>
      </p:sp>
      <p:sp>
        <p:nvSpPr>
          <p:cNvPr id="178" name="Google Shape;178;p17"/>
          <p:cNvSpPr txBox="1"/>
          <p:nvPr/>
        </p:nvSpPr>
        <p:spPr>
          <a:xfrm>
            <a:off x="962025" y="2924175"/>
            <a:ext cx="474345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Inter"/>
                <a:ea typeface="Inter"/>
                <a:cs typeface="Inter"/>
                <a:sym typeface="Inter"/>
              </a:rPr>
              <a:t>Chuyển đổi dữ liệu sang dạng số, đảm bảo lưu trữ an toàn lâu dài và phục hồi nhanh chóng.</a:t>
            </a:r>
            <a:endParaRPr/>
          </a:p>
        </p:txBody>
      </p:sp>
      <p:sp>
        <p:nvSpPr>
          <p:cNvPr id="181" name="Google Shape;181;p17"/>
          <p:cNvSpPr txBox="1"/>
          <p:nvPr/>
        </p:nvSpPr>
        <p:spPr>
          <a:xfrm>
            <a:off x="6486525" y="2924175"/>
            <a:ext cx="474345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Inter"/>
                <a:ea typeface="Inter"/>
                <a:cs typeface="Inter"/>
                <a:sym typeface="Inter"/>
              </a:rPr>
              <a:t>Hệ thống hóa thông tin thành viên, sự kiện và tài chính trên một nền tảng duy nhất.</a:t>
            </a:r>
            <a:endParaRPr/>
          </a:p>
        </p:txBody>
      </p:sp>
      <p:sp>
        <p:nvSpPr>
          <p:cNvPr id="183" name="Google Shape;183;p17"/>
          <p:cNvSpPr txBox="1"/>
          <p:nvPr/>
        </p:nvSpPr>
        <p:spPr>
          <a:xfrm>
            <a:off x="962025" y="4238625"/>
            <a:ext cx="4980622"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Lexend"/>
                <a:ea typeface="Lexend"/>
                <a:cs typeface="Lexend"/>
                <a:sym typeface="Lexend"/>
              </a:rPr>
              <a:t>Gắn kết thế hệ</a:t>
            </a:r>
            <a:endParaRPr/>
          </a:p>
        </p:txBody>
      </p:sp>
      <p:sp>
        <p:nvSpPr>
          <p:cNvPr id="184" name="Google Shape;184;p17"/>
          <p:cNvSpPr txBox="1"/>
          <p:nvPr/>
        </p:nvSpPr>
        <p:spPr>
          <a:xfrm>
            <a:off x="962025" y="4657725"/>
            <a:ext cx="474345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Inter"/>
                <a:ea typeface="Inter"/>
                <a:cs typeface="Inter"/>
                <a:sym typeface="Inter"/>
              </a:rPr>
              <a:t>Tạo không gian số chung để các thành viên dễ dàng tra cứu cội nguồn và tham gia hoạt động họ.</a:t>
            </a:r>
            <a:endParaRPr/>
          </a:p>
        </p:txBody>
      </p:sp>
      <p:sp>
        <p:nvSpPr>
          <p:cNvPr id="186" name="Google Shape;186;p17"/>
          <p:cNvSpPr txBox="1"/>
          <p:nvPr/>
        </p:nvSpPr>
        <p:spPr>
          <a:xfrm>
            <a:off x="6486525" y="4238625"/>
            <a:ext cx="4980622"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Lexend"/>
                <a:ea typeface="Lexend"/>
                <a:cs typeface="Lexend"/>
                <a:sym typeface="Lexend"/>
              </a:rPr>
              <a:t>Hiện đại hóa</a:t>
            </a:r>
            <a:endParaRPr/>
          </a:p>
        </p:txBody>
      </p:sp>
      <p:sp>
        <p:nvSpPr>
          <p:cNvPr id="187" name="Google Shape;187;p17"/>
          <p:cNvSpPr txBox="1"/>
          <p:nvPr/>
        </p:nvSpPr>
        <p:spPr>
          <a:xfrm>
            <a:off x="6486525" y="4657725"/>
            <a:ext cx="474345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Inter"/>
                <a:ea typeface="Inter"/>
                <a:cs typeface="Inter"/>
                <a:sym typeface="Inter"/>
              </a:rPr>
              <a:t>Tự động hóa các nghiệp vụ nhắc lịch giỗ, thống kê nhân khẩu và báo cáo quỹ minh bạch.</a:t>
            </a:r>
            <a:endParaRPr/>
          </a:p>
        </p:txBody>
      </p:sp>
      <p:sp>
        <p:nvSpPr>
          <p:cNvPr id="2" name="TextBox 1">
            <a:extLst>
              <a:ext uri="{FF2B5EF4-FFF2-40B4-BE49-F238E27FC236}">
                <a16:creationId xmlns:a16="http://schemas.microsoft.com/office/drawing/2014/main" id="{F0E99983-23B8-6C24-AC30-AB58D6AE2496}"/>
              </a:ext>
            </a:extLst>
          </p:cNvPr>
          <p:cNvSpPr txBox="1"/>
          <p:nvPr/>
        </p:nvSpPr>
        <p:spPr>
          <a:xfrm>
            <a:off x="6372826" y="2501726"/>
            <a:ext cx="3092570" cy="346249"/>
          </a:xfrm>
          <a:prstGeom prst="rect">
            <a:avLst/>
          </a:prstGeom>
          <a:noFill/>
        </p:spPr>
        <p:txBody>
          <a:bodyPr wrap="square" rtlCol="0">
            <a:spAutoFit/>
          </a:bodyPr>
          <a:lstStyle/>
          <a:p>
            <a:r>
              <a:rPr lang="en-US" sz="1650" b="1" dirty="0">
                <a:solidFill>
                  <a:schemeClr val="bg2"/>
                </a:solidFill>
                <a:latin typeface="Lexend" panose="020B0604020202020204" charset="0"/>
              </a:rPr>
              <a:t>Quản </a:t>
            </a:r>
            <a:r>
              <a:rPr lang="en-US" sz="1650" b="1" dirty="0" err="1">
                <a:solidFill>
                  <a:schemeClr val="bg2"/>
                </a:solidFill>
                <a:latin typeface="Lexend" panose="020B0604020202020204" charset="0"/>
              </a:rPr>
              <a:t>lý</a:t>
            </a:r>
            <a:r>
              <a:rPr lang="en-US" sz="1650" b="1" dirty="0">
                <a:solidFill>
                  <a:schemeClr val="bg2"/>
                </a:solidFill>
                <a:latin typeface="Lexend" panose="020B0604020202020204" charset="0"/>
              </a:rPr>
              <a:t> </a:t>
            </a:r>
            <a:r>
              <a:rPr lang="en-US" sz="1650" b="1" dirty="0" err="1">
                <a:solidFill>
                  <a:schemeClr val="bg2"/>
                </a:solidFill>
                <a:latin typeface="Lexend" panose="020B0604020202020204" charset="0"/>
              </a:rPr>
              <a:t>tập</a:t>
            </a:r>
            <a:r>
              <a:rPr lang="en-US" sz="1650" b="1" dirty="0">
                <a:solidFill>
                  <a:schemeClr val="bg2"/>
                </a:solidFill>
                <a:latin typeface="Lexend" panose="020B0604020202020204" charset="0"/>
              </a:rPr>
              <a:t> </a:t>
            </a:r>
            <a:r>
              <a:rPr lang="en-US" sz="1650" b="1" dirty="0" err="1">
                <a:solidFill>
                  <a:schemeClr val="bg2"/>
                </a:solidFill>
                <a:latin typeface="Lexend" panose="020B0604020202020204" charset="0"/>
              </a:rPr>
              <a:t>trung</a:t>
            </a:r>
            <a:endParaRPr lang="en-US" sz="1650" b="1" dirty="0">
              <a:solidFill>
                <a:schemeClr val="bg2"/>
              </a:solidFill>
              <a:latin typeface="Lexend"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91"/>
        <p:cNvGrpSpPr/>
        <p:nvPr/>
      </p:nvGrpSpPr>
      <p:grpSpPr>
        <a:xfrm>
          <a:off x="0" y="0"/>
          <a:ext cx="0" cy="0"/>
          <a:chOff x="0" y="0"/>
          <a:chExt cx="0" cy="0"/>
        </a:xfrm>
      </p:grpSpPr>
      <p:pic>
        <p:nvPicPr>
          <p:cNvPr id="192" name="Google Shape;192;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3" name="Google Shape;193;p18" descr="image.png"/>
          <p:cNvPicPr preferRelativeResize="0"/>
          <p:nvPr/>
        </p:nvPicPr>
        <p:blipFill rotWithShape="1">
          <a:blip r:embed="rId4">
            <a:alphaModFix/>
          </a:blip>
          <a:srcRect/>
          <a:stretch/>
        </p:blipFill>
        <p:spPr>
          <a:xfrm>
            <a:off x="666750" y="1800225"/>
            <a:ext cx="5238750" cy="1952625"/>
          </a:xfrm>
          <a:prstGeom prst="rect">
            <a:avLst/>
          </a:prstGeom>
          <a:noFill/>
          <a:ln>
            <a:noFill/>
          </a:ln>
        </p:spPr>
      </p:pic>
      <p:pic>
        <p:nvPicPr>
          <p:cNvPr id="194" name="Google Shape;194;p18" descr="image.png"/>
          <p:cNvPicPr preferRelativeResize="0"/>
          <p:nvPr/>
        </p:nvPicPr>
        <p:blipFill rotWithShape="1">
          <a:blip r:embed="rId4">
            <a:alphaModFix/>
          </a:blip>
          <a:srcRect/>
          <a:stretch/>
        </p:blipFill>
        <p:spPr>
          <a:xfrm>
            <a:off x="6286500" y="1800225"/>
            <a:ext cx="5238750" cy="1952625"/>
          </a:xfrm>
          <a:prstGeom prst="rect">
            <a:avLst/>
          </a:prstGeom>
          <a:noFill/>
          <a:ln>
            <a:noFill/>
          </a:ln>
        </p:spPr>
      </p:pic>
      <p:pic>
        <p:nvPicPr>
          <p:cNvPr id="195" name="Google Shape;195;p18" descr="image.png"/>
          <p:cNvPicPr preferRelativeResize="0"/>
          <p:nvPr/>
        </p:nvPicPr>
        <p:blipFill rotWithShape="1">
          <a:blip r:embed="rId5">
            <a:alphaModFix/>
          </a:blip>
          <a:srcRect/>
          <a:stretch/>
        </p:blipFill>
        <p:spPr>
          <a:xfrm>
            <a:off x="666750" y="4133850"/>
            <a:ext cx="10858500" cy="1762125"/>
          </a:xfrm>
          <a:prstGeom prst="rect">
            <a:avLst/>
          </a:prstGeom>
          <a:noFill/>
          <a:ln>
            <a:noFill/>
          </a:ln>
        </p:spPr>
      </p:pic>
      <p:sp>
        <p:nvSpPr>
          <p:cNvPr id="196" name="Google Shape;196;p18"/>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Người dùng mục tiêu</a:t>
            </a:r>
            <a:endParaRPr/>
          </a:p>
        </p:txBody>
      </p:sp>
      <p:sp>
        <p:nvSpPr>
          <p:cNvPr id="197" name="Google Shape;197;p18"/>
          <p:cNvSpPr/>
          <p:nvPr/>
        </p:nvSpPr>
        <p:spPr>
          <a:xfrm>
            <a:off x="666750" y="933450"/>
            <a:ext cx="68484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0" name="Google Shape;200;p18"/>
          <p:cNvSpPr txBox="1"/>
          <p:nvPr/>
        </p:nvSpPr>
        <p:spPr>
          <a:xfrm>
            <a:off x="962025" y="2924175"/>
            <a:ext cx="464820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Inter"/>
                <a:ea typeface="Inter"/>
                <a:cs typeface="Inter"/>
                <a:sym typeface="Inter"/>
              </a:rPr>
              <a:t>Toàn quyền quản trị: Phê duyệt thành viên, thiết lập cây gia phả gốc và điều hành hoạt động chung.</a:t>
            </a:r>
            <a:endParaRPr/>
          </a:p>
        </p:txBody>
      </p:sp>
      <p:sp>
        <p:nvSpPr>
          <p:cNvPr id="203" name="Google Shape;203;p18"/>
          <p:cNvSpPr txBox="1"/>
          <p:nvPr/>
        </p:nvSpPr>
        <p:spPr>
          <a:xfrm>
            <a:off x="6581775" y="2924175"/>
            <a:ext cx="464820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Inter"/>
                <a:ea typeface="Inter"/>
                <a:cs typeface="Inter"/>
                <a:sym typeface="Inter"/>
              </a:rPr>
              <a:t>Quản lý các danh mục thu/chi, niên liễm và đóng góp tự nguyện của toàn bộ dòng họ.</a:t>
            </a:r>
            <a:endParaRPr/>
          </a:p>
        </p:txBody>
      </p:sp>
      <p:sp>
        <p:nvSpPr>
          <p:cNvPr id="206" name="Google Shape;206;p18"/>
          <p:cNvSpPr txBox="1"/>
          <p:nvPr/>
        </p:nvSpPr>
        <p:spPr>
          <a:xfrm>
            <a:off x="962025" y="5257800"/>
            <a:ext cx="1026795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Inter"/>
                <a:ea typeface="Inter"/>
                <a:cs typeface="Inter"/>
                <a:sym typeface="Inter"/>
              </a:rPr>
              <a:t>Người dùng cuối: Xem sơ đồ cây, nhận thông báo sự kiện, phản hồi tham dự và cập nhật hồ sơ cá nhân.</a:t>
            </a:r>
            <a:endParaRPr/>
          </a:p>
        </p:txBody>
      </p:sp>
      <p:pic>
        <p:nvPicPr>
          <p:cNvPr id="207" name="Google Shape;207;p18" descr="image.png"/>
          <p:cNvPicPr preferRelativeResize="0"/>
          <p:nvPr/>
        </p:nvPicPr>
        <p:blipFill rotWithShape="1">
          <a:blip r:embed="rId6">
            <a:alphaModFix/>
          </a:blip>
          <a:srcRect/>
          <a:stretch/>
        </p:blipFill>
        <p:spPr>
          <a:xfrm>
            <a:off x="962025" y="2095500"/>
            <a:ext cx="4648200" cy="266700"/>
          </a:xfrm>
          <a:prstGeom prst="rect">
            <a:avLst/>
          </a:prstGeom>
          <a:noFill/>
          <a:ln>
            <a:noFill/>
          </a:ln>
        </p:spPr>
      </p:pic>
      <p:pic>
        <p:nvPicPr>
          <p:cNvPr id="208" name="Google Shape;208;p18" descr="image.png"/>
          <p:cNvPicPr preferRelativeResize="0"/>
          <p:nvPr/>
        </p:nvPicPr>
        <p:blipFill rotWithShape="1">
          <a:blip r:embed="rId7">
            <a:alphaModFix/>
          </a:blip>
          <a:srcRect/>
          <a:stretch/>
        </p:blipFill>
        <p:spPr>
          <a:xfrm>
            <a:off x="6581775" y="2095500"/>
            <a:ext cx="4648200" cy="266700"/>
          </a:xfrm>
          <a:prstGeom prst="rect">
            <a:avLst/>
          </a:prstGeom>
          <a:noFill/>
          <a:ln>
            <a:noFill/>
          </a:ln>
        </p:spPr>
      </p:pic>
      <p:pic>
        <p:nvPicPr>
          <p:cNvPr id="209" name="Google Shape;209;p18" descr="image.png"/>
          <p:cNvPicPr preferRelativeResize="0"/>
          <p:nvPr/>
        </p:nvPicPr>
        <p:blipFill rotWithShape="1">
          <a:blip r:embed="rId8">
            <a:alphaModFix/>
          </a:blip>
          <a:srcRect/>
          <a:stretch/>
        </p:blipFill>
        <p:spPr>
          <a:xfrm>
            <a:off x="962025" y="4429125"/>
            <a:ext cx="10267950" cy="266700"/>
          </a:xfrm>
          <a:prstGeom prst="rect">
            <a:avLst/>
          </a:prstGeom>
          <a:noFill/>
          <a:ln>
            <a:noFill/>
          </a:ln>
        </p:spPr>
      </p:pic>
      <p:sp>
        <p:nvSpPr>
          <p:cNvPr id="2" name="TextBox 1">
            <a:extLst>
              <a:ext uri="{FF2B5EF4-FFF2-40B4-BE49-F238E27FC236}">
                <a16:creationId xmlns:a16="http://schemas.microsoft.com/office/drawing/2014/main" id="{6BE1609A-E063-67D8-515C-DE5CB3FFCDA8}"/>
              </a:ext>
            </a:extLst>
          </p:cNvPr>
          <p:cNvSpPr txBox="1"/>
          <p:nvPr/>
        </p:nvSpPr>
        <p:spPr>
          <a:xfrm>
            <a:off x="879894" y="2412913"/>
            <a:ext cx="2552302" cy="346249"/>
          </a:xfrm>
          <a:prstGeom prst="rect">
            <a:avLst/>
          </a:prstGeom>
          <a:noFill/>
        </p:spPr>
        <p:txBody>
          <a:bodyPr wrap="none" rtlCol="0">
            <a:spAutoFit/>
          </a:bodyPr>
          <a:lstStyle/>
          <a:p>
            <a:r>
              <a:rPr lang="en-US" sz="1650" b="1" dirty="0" err="1">
                <a:solidFill>
                  <a:schemeClr val="bg2"/>
                </a:solidFill>
                <a:latin typeface="Lexend" panose="020B0604020202020204" charset="0"/>
              </a:rPr>
              <a:t>Trưởng</a:t>
            </a:r>
            <a:r>
              <a:rPr lang="en-US" sz="1650" b="1" dirty="0">
                <a:solidFill>
                  <a:schemeClr val="bg2"/>
                </a:solidFill>
                <a:latin typeface="Lexend" panose="020B0604020202020204" charset="0"/>
              </a:rPr>
              <a:t> </a:t>
            </a:r>
            <a:r>
              <a:rPr lang="en-US" sz="1650" b="1" dirty="0" err="1">
                <a:solidFill>
                  <a:schemeClr val="bg2"/>
                </a:solidFill>
                <a:latin typeface="Lexend" panose="020B0604020202020204" charset="0"/>
              </a:rPr>
              <a:t>họ</a:t>
            </a:r>
            <a:r>
              <a:rPr lang="en-US" sz="1650" b="1" dirty="0">
                <a:solidFill>
                  <a:schemeClr val="bg2"/>
                </a:solidFill>
                <a:latin typeface="Lexend" panose="020B0604020202020204" charset="0"/>
              </a:rPr>
              <a:t> / </a:t>
            </a:r>
            <a:r>
              <a:rPr lang="en-US" sz="1650" b="1" dirty="0" err="1">
                <a:solidFill>
                  <a:schemeClr val="bg2"/>
                </a:solidFill>
                <a:latin typeface="Lexend" panose="020B0604020202020204" charset="0"/>
              </a:rPr>
              <a:t>Hội</a:t>
            </a:r>
            <a:r>
              <a:rPr lang="en-US" sz="1650" b="1" dirty="0">
                <a:solidFill>
                  <a:schemeClr val="bg2"/>
                </a:solidFill>
                <a:latin typeface="Lexend" panose="020B0604020202020204" charset="0"/>
              </a:rPr>
              <a:t> </a:t>
            </a:r>
            <a:r>
              <a:rPr lang="en-US" sz="1650" b="1" dirty="0" err="1">
                <a:solidFill>
                  <a:schemeClr val="bg2"/>
                </a:solidFill>
                <a:latin typeface="Lexend" panose="020B0604020202020204" charset="0"/>
              </a:rPr>
              <a:t>đồng</a:t>
            </a:r>
            <a:endParaRPr lang="en-US" sz="1650" b="1" dirty="0">
              <a:solidFill>
                <a:schemeClr val="bg2"/>
              </a:solidFill>
              <a:latin typeface="Lexend" panose="020B0604020202020204" charset="0"/>
            </a:endParaRPr>
          </a:p>
        </p:txBody>
      </p:sp>
      <p:sp>
        <p:nvSpPr>
          <p:cNvPr id="3" name="TextBox 2">
            <a:extLst>
              <a:ext uri="{FF2B5EF4-FFF2-40B4-BE49-F238E27FC236}">
                <a16:creationId xmlns:a16="http://schemas.microsoft.com/office/drawing/2014/main" id="{3D3828D6-A0B7-DBE4-DF25-DB3D298C429F}"/>
              </a:ext>
            </a:extLst>
          </p:cNvPr>
          <p:cNvSpPr txBox="1"/>
          <p:nvPr/>
        </p:nvSpPr>
        <p:spPr>
          <a:xfrm>
            <a:off x="6504316" y="2476500"/>
            <a:ext cx="1614545" cy="346249"/>
          </a:xfrm>
          <a:prstGeom prst="rect">
            <a:avLst/>
          </a:prstGeom>
          <a:noFill/>
        </p:spPr>
        <p:txBody>
          <a:bodyPr wrap="none" rtlCol="0">
            <a:spAutoFit/>
          </a:bodyPr>
          <a:lstStyle/>
          <a:p>
            <a:r>
              <a:rPr lang="en-US" sz="1650" b="1" dirty="0">
                <a:solidFill>
                  <a:schemeClr val="bg2"/>
                </a:solidFill>
                <a:latin typeface="Lexend" panose="020B0604020202020204" charset="0"/>
              </a:rPr>
              <a:t>Ban </a:t>
            </a:r>
            <a:r>
              <a:rPr lang="en-US" sz="1650" b="1" dirty="0" err="1">
                <a:solidFill>
                  <a:schemeClr val="bg2"/>
                </a:solidFill>
                <a:latin typeface="Lexend" panose="020B0604020202020204" charset="0"/>
              </a:rPr>
              <a:t>tài</a:t>
            </a:r>
            <a:r>
              <a:rPr lang="en-US" sz="1650" b="1" dirty="0">
                <a:solidFill>
                  <a:schemeClr val="bg2"/>
                </a:solidFill>
                <a:latin typeface="Lexend" panose="020B0604020202020204" charset="0"/>
              </a:rPr>
              <a:t> </a:t>
            </a:r>
            <a:r>
              <a:rPr lang="en-US" sz="1650" b="1" dirty="0" err="1">
                <a:solidFill>
                  <a:schemeClr val="bg2"/>
                </a:solidFill>
                <a:latin typeface="Lexend" panose="020B0604020202020204" charset="0"/>
              </a:rPr>
              <a:t>chính</a:t>
            </a:r>
            <a:endParaRPr lang="en-US" sz="1650" b="1" dirty="0">
              <a:solidFill>
                <a:schemeClr val="bg2"/>
              </a:solidFill>
              <a:latin typeface="Lexend" panose="020B0604020202020204" charset="0"/>
            </a:endParaRPr>
          </a:p>
        </p:txBody>
      </p:sp>
      <p:sp>
        <p:nvSpPr>
          <p:cNvPr id="4" name="TextBox 3">
            <a:extLst>
              <a:ext uri="{FF2B5EF4-FFF2-40B4-BE49-F238E27FC236}">
                <a16:creationId xmlns:a16="http://schemas.microsoft.com/office/drawing/2014/main" id="{E59390E5-9AB4-A231-17B5-651A192F20E2}"/>
              </a:ext>
            </a:extLst>
          </p:cNvPr>
          <p:cNvSpPr txBox="1"/>
          <p:nvPr/>
        </p:nvSpPr>
        <p:spPr>
          <a:xfrm>
            <a:off x="879894" y="4730576"/>
            <a:ext cx="2342308" cy="346249"/>
          </a:xfrm>
          <a:prstGeom prst="rect">
            <a:avLst/>
          </a:prstGeom>
          <a:noFill/>
        </p:spPr>
        <p:txBody>
          <a:bodyPr wrap="none" rtlCol="0">
            <a:spAutoFit/>
          </a:bodyPr>
          <a:lstStyle/>
          <a:p>
            <a:r>
              <a:rPr lang="en-US" sz="1650" b="1" dirty="0">
                <a:solidFill>
                  <a:schemeClr val="bg2"/>
                </a:solidFill>
                <a:latin typeface="Lexend" panose="020B0604020202020204" charset="0"/>
              </a:rPr>
              <a:t>Thành </a:t>
            </a:r>
            <a:r>
              <a:rPr lang="en-US" sz="1650" b="1" dirty="0" err="1">
                <a:solidFill>
                  <a:schemeClr val="bg2"/>
                </a:solidFill>
                <a:latin typeface="Lexend" panose="020B0604020202020204" charset="0"/>
              </a:rPr>
              <a:t>viên</a:t>
            </a:r>
            <a:r>
              <a:rPr lang="en-US" sz="1650" b="1" dirty="0">
                <a:solidFill>
                  <a:schemeClr val="bg2"/>
                </a:solidFill>
                <a:latin typeface="Lexend" panose="020B0604020202020204" charset="0"/>
              </a:rPr>
              <a:t> </a:t>
            </a:r>
            <a:r>
              <a:rPr lang="en-US" sz="1650" b="1" dirty="0" err="1">
                <a:solidFill>
                  <a:schemeClr val="bg2"/>
                </a:solidFill>
                <a:latin typeface="Lexend" panose="020B0604020202020204" charset="0"/>
              </a:rPr>
              <a:t>dòng</a:t>
            </a:r>
            <a:r>
              <a:rPr lang="en-US" sz="1650" b="1" dirty="0">
                <a:solidFill>
                  <a:schemeClr val="bg2"/>
                </a:solidFill>
                <a:latin typeface="Lexend" panose="020B0604020202020204" charset="0"/>
              </a:rPr>
              <a:t> </a:t>
            </a:r>
            <a:r>
              <a:rPr lang="en-US" sz="1650" b="1" dirty="0" err="1">
                <a:solidFill>
                  <a:schemeClr val="bg2"/>
                </a:solidFill>
                <a:latin typeface="Lexend" panose="020B0604020202020204" charset="0"/>
              </a:rPr>
              <a:t>họ</a:t>
            </a:r>
            <a:endParaRPr lang="en-US" sz="1650" b="1" dirty="0">
              <a:solidFill>
                <a:schemeClr val="bg2"/>
              </a:solidFill>
              <a:latin typeface="Lexend"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13"/>
        <p:cNvGrpSpPr/>
        <p:nvPr/>
      </p:nvGrpSpPr>
      <p:grpSpPr>
        <a:xfrm>
          <a:off x="0" y="0"/>
          <a:ext cx="0" cy="0"/>
          <a:chOff x="0" y="0"/>
          <a:chExt cx="0" cy="0"/>
        </a:xfrm>
      </p:grpSpPr>
      <p:pic>
        <p:nvPicPr>
          <p:cNvPr id="214" name="Google Shape;214;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5" name="Google Shape;215;p19" descr="image.png"/>
          <p:cNvPicPr preferRelativeResize="0"/>
          <p:nvPr/>
        </p:nvPicPr>
        <p:blipFill rotWithShape="1">
          <a:blip r:embed="rId4">
            <a:alphaModFix/>
          </a:blip>
          <a:srcRect/>
          <a:stretch/>
        </p:blipFill>
        <p:spPr>
          <a:xfrm>
            <a:off x="666750" y="2728912"/>
            <a:ext cx="5238750" cy="2238375"/>
          </a:xfrm>
          <a:prstGeom prst="rect">
            <a:avLst/>
          </a:prstGeom>
          <a:noFill/>
          <a:ln>
            <a:noFill/>
          </a:ln>
        </p:spPr>
      </p:pic>
      <p:pic>
        <p:nvPicPr>
          <p:cNvPr id="216" name="Google Shape;216;p19" descr="image.png"/>
          <p:cNvPicPr preferRelativeResize="0"/>
          <p:nvPr/>
        </p:nvPicPr>
        <p:blipFill rotWithShape="1">
          <a:blip r:embed="rId5">
            <a:alphaModFix/>
          </a:blip>
          <a:srcRect/>
          <a:stretch/>
        </p:blipFill>
        <p:spPr>
          <a:xfrm>
            <a:off x="6286500" y="2728912"/>
            <a:ext cx="5238750" cy="2238375"/>
          </a:xfrm>
          <a:prstGeom prst="rect">
            <a:avLst/>
          </a:prstGeom>
          <a:noFill/>
          <a:ln>
            <a:noFill/>
          </a:ln>
        </p:spPr>
      </p:pic>
      <p:sp>
        <p:nvSpPr>
          <p:cNvPr id="217" name="Google Shape;217;p19"/>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Phạm vi dự án</a:t>
            </a:r>
            <a:endParaRPr/>
          </a:p>
        </p:txBody>
      </p:sp>
      <p:sp>
        <p:nvSpPr>
          <p:cNvPr id="218" name="Google Shape;218;p19"/>
          <p:cNvSpPr/>
          <p:nvPr/>
        </p:nvSpPr>
        <p:spPr>
          <a:xfrm>
            <a:off x="666750" y="933450"/>
            <a:ext cx="80486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19"/>
          <p:cNvSpPr txBox="1"/>
          <p:nvPr/>
        </p:nvSpPr>
        <p:spPr>
          <a:xfrm>
            <a:off x="962025" y="3062287"/>
            <a:ext cx="488061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0B981"/>
                </a:solidFill>
                <a:latin typeface="Lexend"/>
                <a:ea typeface="Lexend"/>
                <a:cs typeface="Lexend"/>
                <a:sym typeface="Lexend"/>
              </a:rPr>
              <a:t>Trong phạm vi</a:t>
            </a:r>
            <a:endParaRPr/>
          </a:p>
        </p:txBody>
      </p:sp>
      <p:sp>
        <p:nvSpPr>
          <p:cNvPr id="222" name="Google Shape;222;p19"/>
          <p:cNvSpPr txBox="1"/>
          <p:nvPr/>
        </p:nvSpPr>
        <p:spPr>
          <a:xfrm>
            <a:off x="6581775" y="3062287"/>
            <a:ext cx="488061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EF4444"/>
                </a:solidFill>
                <a:latin typeface="Lexend"/>
                <a:ea typeface="Lexend"/>
                <a:cs typeface="Lexend"/>
                <a:sym typeface="Lexend"/>
              </a:rPr>
              <a:t>Ngoài phạm vi</a:t>
            </a:r>
            <a:endParaRPr/>
          </a:p>
        </p:txBody>
      </p:sp>
      <p:sp>
        <p:nvSpPr>
          <p:cNvPr id="223" name="Google Shape;223;p19"/>
          <p:cNvSpPr txBox="1"/>
          <p:nvPr/>
        </p:nvSpPr>
        <p:spPr>
          <a:xfrm>
            <a:off x="1247775" y="3486150"/>
            <a:ext cx="95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a:t>
            </a:r>
            <a:endParaRPr/>
          </a:p>
        </p:txBody>
      </p:sp>
      <p:sp>
        <p:nvSpPr>
          <p:cNvPr id="224" name="Google Shape;224;p19"/>
          <p:cNvSpPr txBox="1"/>
          <p:nvPr/>
        </p:nvSpPr>
        <p:spPr>
          <a:xfrm>
            <a:off x="1343025" y="3500437"/>
            <a:ext cx="4267200" cy="200025"/>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Phát triển Web Application đồng bộ.</a:t>
            </a:r>
            <a:endParaRPr/>
          </a:p>
        </p:txBody>
      </p:sp>
      <p:sp>
        <p:nvSpPr>
          <p:cNvPr id="225" name="Google Shape;225;p19"/>
          <p:cNvSpPr txBox="1"/>
          <p:nvPr/>
        </p:nvSpPr>
        <p:spPr>
          <a:xfrm>
            <a:off x="1247775" y="3686175"/>
            <a:ext cx="95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a:t>
            </a:r>
            <a:endParaRPr/>
          </a:p>
        </p:txBody>
      </p:sp>
      <p:sp>
        <p:nvSpPr>
          <p:cNvPr id="226" name="Google Shape;226;p19"/>
          <p:cNvSpPr txBox="1"/>
          <p:nvPr/>
        </p:nvSpPr>
        <p:spPr>
          <a:xfrm>
            <a:off x="1343025" y="3700462"/>
            <a:ext cx="4267200" cy="200025"/>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Phân hệ Quản lý Tài khoản &amp; Phân quyền.</a:t>
            </a:r>
            <a:endParaRPr/>
          </a:p>
        </p:txBody>
      </p:sp>
      <p:sp>
        <p:nvSpPr>
          <p:cNvPr id="227" name="Google Shape;227;p19"/>
          <p:cNvSpPr txBox="1"/>
          <p:nvPr/>
        </p:nvSpPr>
        <p:spPr>
          <a:xfrm>
            <a:off x="1247775" y="3886200"/>
            <a:ext cx="95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a:t>
            </a:r>
            <a:endParaRPr/>
          </a:p>
        </p:txBody>
      </p:sp>
      <p:sp>
        <p:nvSpPr>
          <p:cNvPr id="228" name="Google Shape;228;p19"/>
          <p:cNvSpPr txBox="1"/>
          <p:nvPr/>
        </p:nvSpPr>
        <p:spPr>
          <a:xfrm>
            <a:off x="1343025" y="3900487"/>
            <a:ext cx="4267200" cy="200025"/>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350" b="0" i="0" u="none" strike="noStrike" cap="none" dirty="0" err="1">
                <a:solidFill>
                  <a:srgbClr val="1E293B"/>
                </a:solidFill>
                <a:latin typeface="Inter"/>
                <a:ea typeface="Inter"/>
                <a:cs typeface="Inter"/>
                <a:sym typeface="Inter"/>
              </a:rPr>
              <a:t>Phân</a:t>
            </a:r>
            <a:r>
              <a:rPr lang="en-US" sz="1350" b="0" i="0" u="none" strike="noStrike" cap="none" dirty="0">
                <a:solidFill>
                  <a:srgbClr val="1E293B"/>
                </a:solidFill>
                <a:latin typeface="Inter"/>
                <a:ea typeface="Inter"/>
                <a:cs typeface="Inter"/>
                <a:sym typeface="Inter"/>
              </a:rPr>
              <a:t> </a:t>
            </a:r>
            <a:r>
              <a:rPr lang="en-US" sz="1350" b="0" i="0" u="none" strike="noStrike" cap="none" dirty="0" err="1">
                <a:solidFill>
                  <a:srgbClr val="1E293B"/>
                </a:solidFill>
                <a:latin typeface="Inter"/>
                <a:ea typeface="Inter"/>
                <a:cs typeface="Inter"/>
                <a:sym typeface="Inter"/>
              </a:rPr>
              <a:t>hệ</a:t>
            </a:r>
            <a:r>
              <a:rPr lang="en-US" sz="1350" b="0" i="0" u="none" strike="noStrike" cap="none" dirty="0">
                <a:solidFill>
                  <a:srgbClr val="1E293B"/>
                </a:solidFill>
                <a:latin typeface="Inter"/>
                <a:ea typeface="Inter"/>
                <a:cs typeface="Inter"/>
                <a:sym typeface="Inter"/>
              </a:rPr>
              <a:t> </a:t>
            </a:r>
            <a:r>
              <a:rPr lang="en-US" sz="1350" b="0" i="0" u="none" strike="noStrike" cap="none" dirty="0" err="1">
                <a:solidFill>
                  <a:srgbClr val="1E293B"/>
                </a:solidFill>
                <a:latin typeface="Inter"/>
                <a:ea typeface="Inter"/>
                <a:cs typeface="Inter"/>
                <a:sym typeface="Inter"/>
              </a:rPr>
              <a:t>Cây</a:t>
            </a:r>
            <a:r>
              <a:rPr lang="en-US" sz="1350" b="0" i="0" u="none" strike="noStrike" cap="none" dirty="0">
                <a:solidFill>
                  <a:srgbClr val="1E293B"/>
                </a:solidFill>
                <a:latin typeface="Inter"/>
                <a:ea typeface="Inter"/>
                <a:cs typeface="Inter"/>
                <a:sym typeface="Inter"/>
              </a:rPr>
              <a:t> </a:t>
            </a:r>
            <a:r>
              <a:rPr lang="en-US" sz="1350" b="0" i="0" u="none" strike="noStrike" cap="none" dirty="0" err="1">
                <a:solidFill>
                  <a:srgbClr val="1E293B"/>
                </a:solidFill>
                <a:latin typeface="Inter"/>
                <a:ea typeface="Inter"/>
                <a:cs typeface="Inter"/>
                <a:sym typeface="Inter"/>
              </a:rPr>
              <a:t>gia</a:t>
            </a:r>
            <a:r>
              <a:rPr lang="en-US" sz="1350" b="0" i="0" u="none" strike="noStrike" cap="none" dirty="0">
                <a:solidFill>
                  <a:srgbClr val="1E293B"/>
                </a:solidFill>
                <a:latin typeface="Inter"/>
                <a:ea typeface="Inter"/>
                <a:cs typeface="Inter"/>
                <a:sym typeface="Inter"/>
              </a:rPr>
              <a:t> </a:t>
            </a:r>
            <a:r>
              <a:rPr lang="en-US" sz="1350" b="0" i="0" u="none" strike="noStrike" cap="none" dirty="0" err="1">
                <a:solidFill>
                  <a:srgbClr val="1E293B"/>
                </a:solidFill>
                <a:latin typeface="Inter"/>
                <a:ea typeface="Inter"/>
                <a:cs typeface="Inter"/>
                <a:sym typeface="Inter"/>
              </a:rPr>
              <a:t>phả</a:t>
            </a:r>
            <a:r>
              <a:rPr lang="en-US" sz="1350" b="0" i="0" u="none" strike="noStrike" cap="none" dirty="0">
                <a:solidFill>
                  <a:srgbClr val="1E293B"/>
                </a:solidFill>
                <a:latin typeface="Inter"/>
                <a:ea typeface="Inter"/>
                <a:cs typeface="Inter"/>
                <a:sym typeface="Inter"/>
              </a:rPr>
              <a:t> </a:t>
            </a:r>
            <a:r>
              <a:rPr lang="en-US" sz="1350" b="0" i="0" u="none" strike="noStrike" cap="none" dirty="0" err="1">
                <a:solidFill>
                  <a:srgbClr val="1E293B"/>
                </a:solidFill>
                <a:latin typeface="Inter"/>
                <a:ea typeface="Inter"/>
                <a:cs typeface="Inter"/>
                <a:sym typeface="Inter"/>
              </a:rPr>
              <a:t>trực</a:t>
            </a:r>
            <a:r>
              <a:rPr lang="en-US" sz="1350" b="0" i="0" u="none" strike="noStrike" cap="none" dirty="0">
                <a:solidFill>
                  <a:srgbClr val="1E293B"/>
                </a:solidFill>
                <a:latin typeface="Inter"/>
                <a:ea typeface="Inter"/>
                <a:cs typeface="Inter"/>
                <a:sym typeface="Inter"/>
              </a:rPr>
              <a:t> </a:t>
            </a:r>
            <a:r>
              <a:rPr lang="en-US" sz="1350" b="0" i="0" u="none" strike="noStrike" cap="none" dirty="0" err="1">
                <a:solidFill>
                  <a:srgbClr val="1E293B"/>
                </a:solidFill>
                <a:latin typeface="Inter"/>
                <a:ea typeface="Inter"/>
                <a:cs typeface="Inter"/>
                <a:sym typeface="Inter"/>
              </a:rPr>
              <a:t>quan</a:t>
            </a:r>
            <a:r>
              <a:rPr lang="en-US" sz="1350" b="0" i="0" u="none" strike="noStrike" cap="none" dirty="0">
                <a:solidFill>
                  <a:srgbClr val="1E293B"/>
                </a:solidFill>
                <a:latin typeface="Inter"/>
                <a:ea typeface="Inter"/>
                <a:cs typeface="Inter"/>
                <a:sym typeface="Inter"/>
              </a:rPr>
              <a:t>.</a:t>
            </a:r>
            <a:endParaRPr dirty="0"/>
          </a:p>
        </p:txBody>
      </p:sp>
      <p:sp>
        <p:nvSpPr>
          <p:cNvPr id="229" name="Google Shape;229;p19"/>
          <p:cNvSpPr txBox="1"/>
          <p:nvPr/>
        </p:nvSpPr>
        <p:spPr>
          <a:xfrm>
            <a:off x="1247775" y="4086225"/>
            <a:ext cx="95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a:t>
            </a:r>
            <a:endParaRPr/>
          </a:p>
        </p:txBody>
      </p:sp>
      <p:sp>
        <p:nvSpPr>
          <p:cNvPr id="230" name="Google Shape;230;p19"/>
          <p:cNvSpPr txBox="1"/>
          <p:nvPr/>
        </p:nvSpPr>
        <p:spPr>
          <a:xfrm>
            <a:off x="1343025" y="4100512"/>
            <a:ext cx="4267200" cy="200025"/>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Phân hệ Sự kiện &amp; Thông báo.</a:t>
            </a:r>
            <a:endParaRPr/>
          </a:p>
        </p:txBody>
      </p:sp>
      <p:sp>
        <p:nvSpPr>
          <p:cNvPr id="231" name="Google Shape;231;p19"/>
          <p:cNvSpPr txBox="1"/>
          <p:nvPr/>
        </p:nvSpPr>
        <p:spPr>
          <a:xfrm>
            <a:off x="1247775" y="4286250"/>
            <a:ext cx="95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a:t>
            </a:r>
            <a:endParaRPr/>
          </a:p>
        </p:txBody>
      </p:sp>
      <p:sp>
        <p:nvSpPr>
          <p:cNvPr id="232" name="Google Shape;232;p19"/>
          <p:cNvSpPr txBox="1"/>
          <p:nvPr/>
        </p:nvSpPr>
        <p:spPr>
          <a:xfrm>
            <a:off x="1343025" y="4300537"/>
            <a:ext cx="4267200" cy="200025"/>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Phân hệ Quản lý Quỹ (Thu - Chi).</a:t>
            </a:r>
            <a:endParaRPr/>
          </a:p>
        </p:txBody>
      </p:sp>
      <p:sp>
        <p:nvSpPr>
          <p:cNvPr id="233" name="Google Shape;233;p19"/>
          <p:cNvSpPr txBox="1"/>
          <p:nvPr/>
        </p:nvSpPr>
        <p:spPr>
          <a:xfrm>
            <a:off x="6867525" y="3486150"/>
            <a:ext cx="95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a:t>
            </a:r>
            <a:endParaRPr/>
          </a:p>
        </p:txBody>
      </p:sp>
      <p:sp>
        <p:nvSpPr>
          <p:cNvPr id="234" name="Google Shape;234;p19"/>
          <p:cNvSpPr txBox="1"/>
          <p:nvPr/>
        </p:nvSpPr>
        <p:spPr>
          <a:xfrm>
            <a:off x="6962775" y="3500437"/>
            <a:ext cx="4267200" cy="200025"/>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Ứng dụng Native Mobile (Android/iOS).</a:t>
            </a:r>
            <a:endParaRPr/>
          </a:p>
        </p:txBody>
      </p:sp>
      <p:sp>
        <p:nvSpPr>
          <p:cNvPr id="235" name="Google Shape;235;p19"/>
          <p:cNvSpPr txBox="1"/>
          <p:nvPr/>
        </p:nvSpPr>
        <p:spPr>
          <a:xfrm>
            <a:off x="6867525" y="3686175"/>
            <a:ext cx="95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a:t>
            </a:r>
            <a:endParaRPr/>
          </a:p>
        </p:txBody>
      </p:sp>
      <p:sp>
        <p:nvSpPr>
          <p:cNvPr id="236" name="Google Shape;236;p19"/>
          <p:cNvSpPr txBox="1"/>
          <p:nvPr/>
        </p:nvSpPr>
        <p:spPr>
          <a:xfrm>
            <a:off x="6962775" y="3700462"/>
            <a:ext cx="4267200" cy="200025"/>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Tích hợp thanh toán online trực tiếp.</a:t>
            </a:r>
            <a:endParaRPr/>
          </a:p>
        </p:txBody>
      </p:sp>
      <p:sp>
        <p:nvSpPr>
          <p:cNvPr id="237" name="Google Shape;237;p19"/>
          <p:cNvSpPr txBox="1"/>
          <p:nvPr/>
        </p:nvSpPr>
        <p:spPr>
          <a:xfrm>
            <a:off x="6867525" y="3886200"/>
            <a:ext cx="95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a:t>
            </a:r>
            <a:endParaRPr/>
          </a:p>
        </p:txBody>
      </p:sp>
      <p:sp>
        <p:nvSpPr>
          <p:cNvPr id="238" name="Google Shape;238;p19"/>
          <p:cNvSpPr txBox="1"/>
          <p:nvPr/>
        </p:nvSpPr>
        <p:spPr>
          <a:xfrm>
            <a:off x="6962775" y="3900487"/>
            <a:ext cx="4267200" cy="200025"/>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Xác thực sinh trắc học cao cấp.</a:t>
            </a:r>
            <a:endParaRPr/>
          </a:p>
        </p:txBody>
      </p:sp>
      <p:sp>
        <p:nvSpPr>
          <p:cNvPr id="239" name="Google Shape;239;p19"/>
          <p:cNvSpPr txBox="1"/>
          <p:nvPr/>
        </p:nvSpPr>
        <p:spPr>
          <a:xfrm>
            <a:off x="6867525" y="4086225"/>
            <a:ext cx="95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a:t>
            </a:r>
            <a:endParaRPr/>
          </a:p>
        </p:txBody>
      </p:sp>
      <p:sp>
        <p:nvSpPr>
          <p:cNvPr id="240" name="Google Shape;240;p19"/>
          <p:cNvSpPr txBox="1"/>
          <p:nvPr/>
        </p:nvSpPr>
        <p:spPr>
          <a:xfrm>
            <a:off x="6962775" y="4100512"/>
            <a:ext cx="4267200" cy="200025"/>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Inter"/>
                <a:ea typeface="Inter"/>
                <a:cs typeface="Inter"/>
                <a:sym typeface="Inter"/>
              </a:rPr>
              <a:t>Trí tuệ nhân tạo (AI) phân tích gen.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44"/>
        <p:cNvGrpSpPr/>
        <p:nvPr/>
      </p:nvGrpSpPr>
      <p:grpSpPr>
        <a:xfrm>
          <a:off x="0" y="0"/>
          <a:ext cx="0" cy="0"/>
          <a:chOff x="0" y="0"/>
          <a:chExt cx="0" cy="0"/>
        </a:xfrm>
      </p:grpSpPr>
      <p:pic>
        <p:nvPicPr>
          <p:cNvPr id="245" name="Google Shape;245;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6" name="Google Shape;246;p20" descr="image.png"/>
          <p:cNvPicPr preferRelativeResize="0"/>
          <p:nvPr/>
        </p:nvPicPr>
        <p:blipFill rotWithShape="1">
          <a:blip r:embed="rId4">
            <a:alphaModFix/>
          </a:blip>
          <a:srcRect/>
          <a:stretch/>
        </p:blipFill>
        <p:spPr>
          <a:xfrm>
            <a:off x="1285875" y="2943225"/>
            <a:ext cx="2381250" cy="971550"/>
          </a:xfrm>
          <a:prstGeom prst="rect">
            <a:avLst/>
          </a:prstGeom>
          <a:noFill/>
          <a:ln>
            <a:noFill/>
          </a:ln>
        </p:spPr>
      </p:pic>
      <p:pic>
        <p:nvPicPr>
          <p:cNvPr id="247" name="Google Shape;247;p20" descr="image.png"/>
          <p:cNvPicPr preferRelativeResize="0"/>
          <p:nvPr/>
        </p:nvPicPr>
        <p:blipFill rotWithShape="1">
          <a:blip r:embed="rId5">
            <a:alphaModFix/>
          </a:blip>
          <a:srcRect/>
          <a:stretch/>
        </p:blipFill>
        <p:spPr>
          <a:xfrm>
            <a:off x="4905375" y="2943225"/>
            <a:ext cx="2381250" cy="971550"/>
          </a:xfrm>
          <a:prstGeom prst="rect">
            <a:avLst/>
          </a:prstGeom>
          <a:noFill/>
          <a:ln>
            <a:noFill/>
          </a:ln>
        </p:spPr>
      </p:pic>
      <p:pic>
        <p:nvPicPr>
          <p:cNvPr id="248" name="Google Shape;248;p20" descr="image.png"/>
          <p:cNvPicPr preferRelativeResize="0"/>
          <p:nvPr/>
        </p:nvPicPr>
        <p:blipFill rotWithShape="1">
          <a:blip r:embed="rId4">
            <a:alphaModFix/>
          </a:blip>
          <a:srcRect/>
          <a:stretch/>
        </p:blipFill>
        <p:spPr>
          <a:xfrm>
            <a:off x="8524875" y="2943225"/>
            <a:ext cx="2381250" cy="971550"/>
          </a:xfrm>
          <a:prstGeom prst="rect">
            <a:avLst/>
          </a:prstGeom>
          <a:noFill/>
          <a:ln>
            <a:noFill/>
          </a:ln>
        </p:spPr>
      </p:pic>
      <p:sp>
        <p:nvSpPr>
          <p:cNvPr id="249" name="Google Shape;249;p20"/>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Yêu cầu phi chức năng</a:t>
            </a:r>
            <a:endParaRPr/>
          </a:p>
        </p:txBody>
      </p:sp>
      <p:sp>
        <p:nvSpPr>
          <p:cNvPr id="250" name="Google Shape;250;p20"/>
          <p:cNvSpPr/>
          <p:nvPr/>
        </p:nvSpPr>
        <p:spPr>
          <a:xfrm>
            <a:off x="666750" y="933450"/>
            <a:ext cx="65627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0"/>
          <p:cNvSpPr txBox="1"/>
          <p:nvPr/>
        </p:nvSpPr>
        <p:spPr>
          <a:xfrm>
            <a:off x="666750" y="4295775"/>
            <a:ext cx="10858500"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64748B"/>
                </a:solidFill>
                <a:latin typeface="Inter"/>
                <a:ea typeface="Inter"/>
                <a:cs typeface="Inter"/>
                <a:sym typeface="Inter"/>
              </a:rPr>
              <a:t>Hệ thống đảm bảo tính </a:t>
            </a:r>
            <a:r>
              <a:rPr lang="en-US" sz="1650" b="1" i="0" u="none" strike="noStrike" cap="none">
                <a:solidFill>
                  <a:srgbClr val="64748B"/>
                </a:solidFill>
                <a:latin typeface="Inter"/>
                <a:ea typeface="Inter"/>
                <a:cs typeface="Inter"/>
                <a:sym typeface="Inter"/>
              </a:rPr>
              <a:t>Bảo mật (Mã hóa dữ liệu)</a:t>
            </a:r>
            <a:r>
              <a:rPr lang="en-US" sz="1650" b="0" i="0" u="none" strike="noStrike" cap="none">
                <a:solidFill>
                  <a:srgbClr val="64748B"/>
                </a:solidFill>
                <a:latin typeface="Inter"/>
                <a:ea typeface="Inter"/>
                <a:cs typeface="Inter"/>
                <a:sym typeface="Inter"/>
              </a:rPr>
              <a:t> và </a:t>
            </a:r>
            <a:r>
              <a:rPr lang="en-US" sz="1650" b="1" i="0" u="none" strike="noStrike" cap="none">
                <a:solidFill>
                  <a:srgbClr val="64748B"/>
                </a:solidFill>
                <a:latin typeface="Inter"/>
                <a:ea typeface="Inter"/>
                <a:cs typeface="Inter"/>
                <a:sym typeface="Inter"/>
              </a:rPr>
              <a:t>Khả năng mở rộng</a:t>
            </a:r>
            <a:r>
              <a:rPr lang="en-US" sz="1650" b="0" i="0" u="none" strike="noStrike" cap="none">
                <a:solidFill>
                  <a:srgbClr val="64748B"/>
                </a:solidFill>
                <a:latin typeface="Inter"/>
                <a:ea typeface="Inter"/>
                <a:cs typeface="Inter"/>
                <a:sym typeface="Inter"/>
              </a:rPr>
              <a:t> khi dữ liệu dòng họ tăng trưởng.</a:t>
            </a:r>
            <a:endParaRPr/>
          </a:p>
        </p:txBody>
      </p:sp>
      <p:sp>
        <p:nvSpPr>
          <p:cNvPr id="252" name="Google Shape;252;p20"/>
          <p:cNvSpPr txBox="1"/>
          <p:nvPr/>
        </p:nvSpPr>
        <p:spPr>
          <a:xfrm>
            <a:off x="1581150" y="3238500"/>
            <a:ext cx="17907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2s</a:t>
            </a:r>
            <a:endParaRPr/>
          </a:p>
        </p:txBody>
      </p:sp>
      <p:sp>
        <p:nvSpPr>
          <p:cNvPr id="253" name="Google Shape;253;p20"/>
          <p:cNvSpPr txBox="1"/>
          <p:nvPr/>
        </p:nvSpPr>
        <p:spPr>
          <a:xfrm>
            <a:off x="1581150" y="3429000"/>
            <a:ext cx="17907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Phản hồi</a:t>
            </a:r>
            <a:endParaRPr/>
          </a:p>
        </p:txBody>
      </p:sp>
      <p:sp>
        <p:nvSpPr>
          <p:cNvPr id="254" name="Google Shape;254;p20"/>
          <p:cNvSpPr txBox="1"/>
          <p:nvPr/>
        </p:nvSpPr>
        <p:spPr>
          <a:xfrm>
            <a:off x="5200650" y="3238500"/>
            <a:ext cx="17907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99%</a:t>
            </a:r>
            <a:endParaRPr/>
          </a:p>
        </p:txBody>
      </p:sp>
      <p:sp>
        <p:nvSpPr>
          <p:cNvPr id="255" name="Google Shape;255;p20"/>
          <p:cNvSpPr txBox="1"/>
          <p:nvPr/>
        </p:nvSpPr>
        <p:spPr>
          <a:xfrm>
            <a:off x="5200650" y="3429000"/>
            <a:ext cx="17907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Uptime</a:t>
            </a:r>
            <a:endParaRPr/>
          </a:p>
        </p:txBody>
      </p:sp>
      <p:sp>
        <p:nvSpPr>
          <p:cNvPr id="256" name="Google Shape;256;p20"/>
          <p:cNvSpPr txBox="1"/>
          <p:nvPr/>
        </p:nvSpPr>
        <p:spPr>
          <a:xfrm>
            <a:off x="8820150" y="3238500"/>
            <a:ext cx="17907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24h</a:t>
            </a:r>
            <a:endParaRPr/>
          </a:p>
        </p:txBody>
      </p:sp>
      <p:sp>
        <p:nvSpPr>
          <p:cNvPr id="257" name="Google Shape;257;p20"/>
          <p:cNvSpPr txBox="1"/>
          <p:nvPr/>
        </p:nvSpPr>
        <p:spPr>
          <a:xfrm>
            <a:off x="8820150" y="3429000"/>
            <a:ext cx="17907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Backup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Shape 297"/>
        <p:cNvGrpSpPr/>
        <p:nvPr/>
      </p:nvGrpSpPr>
      <p:grpSpPr>
        <a:xfrm>
          <a:off x="0" y="0"/>
          <a:ext cx="0" cy="0"/>
          <a:chOff x="0" y="0"/>
          <a:chExt cx="0" cy="0"/>
        </a:xfrm>
      </p:grpSpPr>
      <p:pic>
        <p:nvPicPr>
          <p:cNvPr id="298" name="Google Shape;29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00" name="Google Shape;300;p24"/>
          <p:cNvSpPr txBox="1"/>
          <p:nvPr/>
        </p:nvSpPr>
        <p:spPr>
          <a:xfrm>
            <a:off x="2440543" y="476250"/>
            <a:ext cx="7310913" cy="657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125" b="1" i="0" u="none" strike="noStrike" cap="none">
                <a:solidFill>
                  <a:srgbClr val="FFFFFF"/>
                </a:solidFill>
                <a:latin typeface="Lexend"/>
                <a:ea typeface="Lexend"/>
                <a:cs typeface="Lexend"/>
                <a:sym typeface="Lexend"/>
              </a:rPr>
              <a:t>2. PHÂN TÍCH USE-CASE</a:t>
            </a:r>
            <a:endParaRPr/>
          </a:p>
        </p:txBody>
      </p:sp>
      <p:sp>
        <p:nvSpPr>
          <p:cNvPr id="301" name="Google Shape;301;p24"/>
          <p:cNvSpPr/>
          <p:nvPr/>
        </p:nvSpPr>
        <p:spPr>
          <a:xfrm>
            <a:off x="5619750" y="1419225"/>
            <a:ext cx="952500" cy="37355"/>
          </a:xfrm>
          <a:prstGeom prst="rect">
            <a:avLst/>
          </a:prstGeom>
          <a:solidFill>
            <a:srgbClr val="FF82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553837F8-914D-B855-D190-988F0080CEAC}"/>
              </a:ext>
            </a:extLst>
          </p:cNvPr>
          <p:cNvPicPr>
            <a:picLocks noChangeAspect="1"/>
          </p:cNvPicPr>
          <p:nvPr/>
        </p:nvPicPr>
        <p:blipFill>
          <a:blip r:embed="rId4"/>
          <a:stretch>
            <a:fillRect/>
          </a:stretch>
        </p:blipFill>
        <p:spPr>
          <a:xfrm>
            <a:off x="2673456" y="1676028"/>
            <a:ext cx="6667500" cy="46394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05"/>
        <p:cNvGrpSpPr/>
        <p:nvPr/>
      </p:nvGrpSpPr>
      <p:grpSpPr>
        <a:xfrm>
          <a:off x="0" y="0"/>
          <a:ext cx="0" cy="0"/>
          <a:chOff x="0" y="0"/>
          <a:chExt cx="0" cy="0"/>
        </a:xfrm>
      </p:grpSpPr>
      <p:pic>
        <p:nvPicPr>
          <p:cNvPr id="306" name="Google Shape;306;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7" name="Google Shape;307;p25" descr="image.png"/>
          <p:cNvPicPr preferRelativeResize="0"/>
          <p:nvPr/>
        </p:nvPicPr>
        <p:blipFill rotWithShape="1">
          <a:blip r:embed="rId4">
            <a:alphaModFix/>
          </a:blip>
          <a:srcRect/>
          <a:stretch/>
        </p:blipFill>
        <p:spPr>
          <a:xfrm>
            <a:off x="666750" y="1409700"/>
            <a:ext cx="5334000" cy="1543050"/>
          </a:xfrm>
          <a:prstGeom prst="rect">
            <a:avLst/>
          </a:prstGeom>
          <a:noFill/>
          <a:ln>
            <a:noFill/>
          </a:ln>
        </p:spPr>
      </p:pic>
      <p:pic>
        <p:nvPicPr>
          <p:cNvPr id="308" name="Google Shape;308;p25" descr="image.png"/>
          <p:cNvPicPr preferRelativeResize="0"/>
          <p:nvPr/>
        </p:nvPicPr>
        <p:blipFill rotWithShape="1">
          <a:blip r:embed="rId4">
            <a:alphaModFix/>
          </a:blip>
          <a:srcRect/>
          <a:stretch/>
        </p:blipFill>
        <p:spPr>
          <a:xfrm>
            <a:off x="6133147" y="1376470"/>
            <a:ext cx="5334000" cy="1543050"/>
          </a:xfrm>
          <a:prstGeom prst="rect">
            <a:avLst/>
          </a:prstGeom>
          <a:noFill/>
          <a:ln>
            <a:noFill/>
          </a:ln>
        </p:spPr>
      </p:pic>
      <p:sp>
        <p:nvSpPr>
          <p:cNvPr id="309" name="Google Shape;309;p25"/>
          <p:cNvSpPr txBox="1"/>
          <p:nvPr/>
        </p:nvSpPr>
        <p:spPr>
          <a:xfrm>
            <a:off x="666750" y="485559"/>
            <a:ext cx="11401425"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err="1">
                <a:solidFill>
                  <a:srgbClr val="003366"/>
                </a:solidFill>
                <a:latin typeface="Lexend"/>
                <a:ea typeface="Lexend"/>
                <a:cs typeface="Lexend"/>
                <a:sym typeface="Lexend"/>
              </a:rPr>
              <a:t>Yêu</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cầu</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chức</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năng</a:t>
            </a:r>
            <a:endParaRPr dirty="0"/>
          </a:p>
        </p:txBody>
      </p:sp>
      <p:sp>
        <p:nvSpPr>
          <p:cNvPr id="310" name="Google Shape;310;p25"/>
          <p:cNvSpPr/>
          <p:nvPr/>
        </p:nvSpPr>
        <p:spPr>
          <a:xfrm>
            <a:off x="666750" y="933450"/>
            <a:ext cx="56102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2" name="Google Shape;312;p25"/>
          <p:cNvSpPr txBox="1"/>
          <p:nvPr/>
        </p:nvSpPr>
        <p:spPr>
          <a:xfrm>
            <a:off x="896240" y="1628991"/>
            <a:ext cx="4980622"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Lexend"/>
                <a:ea typeface="Lexend"/>
                <a:cs typeface="Lexend"/>
                <a:sym typeface="Lexend"/>
              </a:rPr>
              <a:t>Quản lý Tài khoản</a:t>
            </a:r>
            <a:endParaRPr/>
          </a:p>
        </p:txBody>
      </p:sp>
      <p:sp>
        <p:nvSpPr>
          <p:cNvPr id="313" name="Google Shape;313;p25"/>
          <p:cNvSpPr txBox="1"/>
          <p:nvPr/>
        </p:nvSpPr>
        <p:spPr>
          <a:xfrm>
            <a:off x="896240" y="2189037"/>
            <a:ext cx="474345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err="1">
                <a:solidFill>
                  <a:srgbClr val="1E293B"/>
                </a:solidFill>
                <a:latin typeface="Inter"/>
                <a:ea typeface="Inter"/>
                <a:cs typeface="Inter"/>
                <a:sym typeface="Inter"/>
              </a:rPr>
              <a:t>Đăng</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ký</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thành</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viên</a:t>
            </a:r>
            <a:r>
              <a:rPr lang="en-US" b="0" i="0" u="none" strike="noStrike" cap="none" dirty="0">
                <a:solidFill>
                  <a:srgbClr val="1E293B"/>
                </a:solidFill>
                <a:latin typeface="Inter"/>
                <a:ea typeface="Inter"/>
                <a:cs typeface="Inter"/>
                <a:sym typeface="Inter"/>
              </a:rPr>
              <a:t> qua </a:t>
            </a:r>
            <a:r>
              <a:rPr lang="en-US" b="0" i="0" u="none" strike="noStrike" cap="none" dirty="0" err="1">
                <a:solidFill>
                  <a:srgbClr val="1E293B"/>
                </a:solidFill>
                <a:latin typeface="Inter"/>
                <a:ea typeface="Inter"/>
                <a:cs typeface="Inter"/>
                <a:sym typeface="Inter"/>
              </a:rPr>
              <a:t>mã</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mời</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nội</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bộ</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phê</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duyệt</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cấp</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quyền</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xác</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thực</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mật</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khẩu</a:t>
            </a:r>
            <a:r>
              <a:rPr lang="en-US" b="0" i="0" u="none" strike="noStrike" cap="none" dirty="0">
                <a:solidFill>
                  <a:srgbClr val="1E293B"/>
                </a:solidFill>
                <a:latin typeface="Inter"/>
                <a:ea typeface="Inter"/>
                <a:cs typeface="Inter"/>
                <a:sym typeface="Inter"/>
              </a:rPr>
              <a:t> OTP.</a:t>
            </a:r>
            <a:endParaRPr dirty="0"/>
          </a:p>
        </p:txBody>
      </p:sp>
      <p:sp>
        <p:nvSpPr>
          <p:cNvPr id="315" name="Google Shape;315;p25"/>
          <p:cNvSpPr txBox="1"/>
          <p:nvPr/>
        </p:nvSpPr>
        <p:spPr>
          <a:xfrm>
            <a:off x="6414162" y="1628991"/>
            <a:ext cx="4980622"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err="1">
                <a:solidFill>
                  <a:srgbClr val="003366"/>
                </a:solidFill>
                <a:latin typeface="Lexend"/>
                <a:ea typeface="Lexend"/>
                <a:cs typeface="Lexend"/>
                <a:sym typeface="Lexend"/>
              </a:rPr>
              <a:t>Quản</a:t>
            </a:r>
            <a:r>
              <a:rPr lang="en-US" sz="1650" b="1" i="0" u="none" strike="noStrike" cap="none" dirty="0">
                <a:solidFill>
                  <a:srgbClr val="003366"/>
                </a:solidFill>
                <a:latin typeface="Lexend"/>
                <a:ea typeface="Lexend"/>
                <a:cs typeface="Lexend"/>
                <a:sym typeface="Lexend"/>
              </a:rPr>
              <a:t> </a:t>
            </a:r>
            <a:r>
              <a:rPr lang="en-US" sz="1650" b="1" i="0" u="none" strike="noStrike" cap="none" dirty="0" err="1">
                <a:solidFill>
                  <a:srgbClr val="003366"/>
                </a:solidFill>
                <a:latin typeface="Lexend"/>
                <a:ea typeface="Lexend"/>
                <a:cs typeface="Lexend"/>
                <a:sym typeface="Lexend"/>
              </a:rPr>
              <a:t>lý</a:t>
            </a:r>
            <a:r>
              <a:rPr lang="en-US" sz="1650" b="1" i="0" u="none" strike="noStrike" cap="none" dirty="0">
                <a:solidFill>
                  <a:srgbClr val="003366"/>
                </a:solidFill>
                <a:latin typeface="Lexend"/>
                <a:ea typeface="Lexend"/>
                <a:cs typeface="Lexend"/>
                <a:sym typeface="Lexend"/>
              </a:rPr>
              <a:t> </a:t>
            </a:r>
            <a:r>
              <a:rPr lang="en-US" sz="1650" b="1" i="0" u="none" strike="noStrike" cap="none" dirty="0" err="1">
                <a:solidFill>
                  <a:srgbClr val="003366"/>
                </a:solidFill>
                <a:latin typeface="Lexend"/>
                <a:ea typeface="Lexend"/>
                <a:cs typeface="Lexend"/>
                <a:sym typeface="Lexend"/>
              </a:rPr>
              <a:t>Cây</a:t>
            </a:r>
            <a:r>
              <a:rPr lang="en-US" sz="1650" b="1" i="0" u="none" strike="noStrike" cap="none" dirty="0">
                <a:solidFill>
                  <a:srgbClr val="003366"/>
                </a:solidFill>
                <a:latin typeface="Lexend"/>
                <a:ea typeface="Lexend"/>
                <a:cs typeface="Lexend"/>
                <a:sym typeface="Lexend"/>
              </a:rPr>
              <a:t> </a:t>
            </a:r>
            <a:r>
              <a:rPr lang="en-US" sz="1650" b="1" i="0" u="none" strike="noStrike" cap="none" dirty="0" err="1">
                <a:solidFill>
                  <a:srgbClr val="003366"/>
                </a:solidFill>
                <a:latin typeface="Lexend"/>
                <a:ea typeface="Lexend"/>
                <a:cs typeface="Lexend"/>
                <a:sym typeface="Lexend"/>
              </a:rPr>
              <a:t>gia</a:t>
            </a:r>
            <a:r>
              <a:rPr lang="en-US" sz="1650" b="1" i="0" u="none" strike="noStrike" cap="none" dirty="0">
                <a:solidFill>
                  <a:srgbClr val="003366"/>
                </a:solidFill>
                <a:latin typeface="Lexend"/>
                <a:ea typeface="Lexend"/>
                <a:cs typeface="Lexend"/>
                <a:sym typeface="Lexend"/>
              </a:rPr>
              <a:t> </a:t>
            </a:r>
            <a:r>
              <a:rPr lang="en-US" sz="1650" b="1" i="0" u="none" strike="noStrike" cap="none" dirty="0" err="1">
                <a:solidFill>
                  <a:srgbClr val="003366"/>
                </a:solidFill>
                <a:latin typeface="Lexend"/>
                <a:ea typeface="Lexend"/>
                <a:cs typeface="Lexend"/>
                <a:sym typeface="Lexend"/>
              </a:rPr>
              <a:t>phả</a:t>
            </a:r>
            <a:endParaRPr dirty="0"/>
          </a:p>
        </p:txBody>
      </p:sp>
      <p:sp>
        <p:nvSpPr>
          <p:cNvPr id="316" name="Google Shape;316;p25"/>
          <p:cNvSpPr txBox="1"/>
          <p:nvPr/>
        </p:nvSpPr>
        <p:spPr>
          <a:xfrm>
            <a:off x="6414162" y="2181225"/>
            <a:ext cx="474345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err="1">
                <a:solidFill>
                  <a:srgbClr val="1E293B"/>
                </a:solidFill>
                <a:latin typeface="Inter"/>
                <a:ea typeface="Inter"/>
                <a:cs typeface="Inter"/>
                <a:sym typeface="Inter"/>
              </a:rPr>
              <a:t>Thêm</a:t>
            </a:r>
            <a:r>
              <a:rPr lang="en-US" b="0" i="0" u="none" strike="noStrike" cap="none" dirty="0">
                <a:solidFill>
                  <a:srgbClr val="1E293B"/>
                </a:solidFill>
                <a:latin typeface="Inter"/>
                <a:ea typeface="Inter"/>
                <a:cs typeface="Inter"/>
                <a:sym typeface="Inter"/>
              </a:rPr>
              <a:t>/</a:t>
            </a:r>
            <a:r>
              <a:rPr lang="en-US" b="0" i="0" u="none" strike="noStrike" cap="none" dirty="0" err="1">
                <a:solidFill>
                  <a:srgbClr val="1E293B"/>
                </a:solidFill>
                <a:latin typeface="Inter"/>
                <a:ea typeface="Inter"/>
                <a:cs typeface="Inter"/>
                <a:sym typeface="Inter"/>
              </a:rPr>
              <a:t>Sửa</a:t>
            </a:r>
            <a:r>
              <a:rPr lang="en-US" b="0" i="0" u="none" strike="noStrike" cap="none" dirty="0">
                <a:solidFill>
                  <a:srgbClr val="1E293B"/>
                </a:solidFill>
                <a:latin typeface="Inter"/>
                <a:ea typeface="Inter"/>
                <a:cs typeface="Inter"/>
                <a:sym typeface="Inter"/>
              </a:rPr>
              <a:t>/</a:t>
            </a:r>
            <a:r>
              <a:rPr lang="en-US" b="0" i="0" u="none" strike="noStrike" cap="none" dirty="0" err="1">
                <a:solidFill>
                  <a:srgbClr val="1E293B"/>
                </a:solidFill>
                <a:latin typeface="Inter"/>
                <a:ea typeface="Inter"/>
                <a:cs typeface="Inter"/>
                <a:sym typeface="Inter"/>
              </a:rPr>
              <a:t>Xóa</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thành</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viên</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liên</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kết</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quan</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hệ</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huyết</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thống</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đa</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tầng</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vẽ</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sơ</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đồ</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cây</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tự</a:t>
            </a:r>
            <a:r>
              <a:rPr lang="en-US" b="0" i="0" u="none" strike="noStrike" cap="none" dirty="0">
                <a:solidFill>
                  <a:srgbClr val="1E293B"/>
                </a:solidFill>
                <a:latin typeface="Inter"/>
                <a:ea typeface="Inter"/>
                <a:cs typeface="Inter"/>
                <a:sym typeface="Inter"/>
              </a:rPr>
              <a:t> </a:t>
            </a:r>
            <a:r>
              <a:rPr lang="en-US" b="0" i="0" u="none" strike="noStrike" cap="none" dirty="0" err="1">
                <a:solidFill>
                  <a:srgbClr val="1E293B"/>
                </a:solidFill>
                <a:latin typeface="Inter"/>
                <a:ea typeface="Inter"/>
                <a:cs typeface="Inter"/>
                <a:sym typeface="Inter"/>
              </a:rPr>
              <a:t>động</a:t>
            </a:r>
            <a:r>
              <a:rPr lang="en-US" b="0" i="0" u="none" strike="noStrike" cap="none" dirty="0">
                <a:solidFill>
                  <a:srgbClr val="1E293B"/>
                </a:solidFill>
                <a:latin typeface="Inter"/>
                <a:ea typeface="Inter"/>
                <a:cs typeface="Inter"/>
                <a:sym typeface="Inter"/>
              </a:rPr>
              <a:t>.</a:t>
            </a:r>
            <a:endParaRPr dirty="0"/>
          </a:p>
        </p:txBody>
      </p:sp>
      <p:pic>
        <p:nvPicPr>
          <p:cNvPr id="11" name="Google Shape;322;p26" descr="image.png">
            <a:extLst>
              <a:ext uri="{FF2B5EF4-FFF2-40B4-BE49-F238E27FC236}">
                <a16:creationId xmlns:a16="http://schemas.microsoft.com/office/drawing/2014/main" id="{F49D0680-09DA-02E5-0D0E-EA1053D26BBA}"/>
              </a:ext>
            </a:extLst>
          </p:cNvPr>
          <p:cNvPicPr preferRelativeResize="0"/>
          <p:nvPr/>
        </p:nvPicPr>
        <p:blipFill rotWithShape="1">
          <a:blip r:embed="rId4">
            <a:alphaModFix/>
          </a:blip>
          <a:srcRect/>
          <a:stretch/>
        </p:blipFill>
        <p:spPr>
          <a:xfrm>
            <a:off x="666750" y="3905251"/>
            <a:ext cx="5334000" cy="1543050"/>
          </a:xfrm>
          <a:prstGeom prst="rect">
            <a:avLst/>
          </a:prstGeom>
          <a:noFill/>
          <a:ln>
            <a:noFill/>
          </a:ln>
        </p:spPr>
      </p:pic>
      <p:pic>
        <p:nvPicPr>
          <p:cNvPr id="12" name="Google Shape;322;p26" descr="image.png">
            <a:extLst>
              <a:ext uri="{FF2B5EF4-FFF2-40B4-BE49-F238E27FC236}">
                <a16:creationId xmlns:a16="http://schemas.microsoft.com/office/drawing/2014/main" id="{E82A9B67-C8DE-A16B-8F62-8491B61170DB}"/>
              </a:ext>
            </a:extLst>
          </p:cNvPr>
          <p:cNvPicPr preferRelativeResize="0"/>
          <p:nvPr/>
        </p:nvPicPr>
        <p:blipFill rotWithShape="1">
          <a:blip r:embed="rId4">
            <a:alphaModFix/>
          </a:blip>
          <a:srcRect/>
          <a:stretch/>
        </p:blipFill>
        <p:spPr>
          <a:xfrm>
            <a:off x="6191250" y="3905251"/>
            <a:ext cx="5334000" cy="1543050"/>
          </a:xfrm>
          <a:prstGeom prst="rect">
            <a:avLst/>
          </a:prstGeom>
          <a:noFill/>
          <a:ln>
            <a:noFill/>
          </a:ln>
        </p:spPr>
      </p:pic>
      <p:sp>
        <p:nvSpPr>
          <p:cNvPr id="14" name="TextBox 13">
            <a:extLst>
              <a:ext uri="{FF2B5EF4-FFF2-40B4-BE49-F238E27FC236}">
                <a16:creationId xmlns:a16="http://schemas.microsoft.com/office/drawing/2014/main" id="{96E9CBC6-B7BD-5A6A-BC77-3A86D7AA40FB}"/>
              </a:ext>
            </a:extLst>
          </p:cNvPr>
          <p:cNvSpPr txBox="1"/>
          <p:nvPr/>
        </p:nvSpPr>
        <p:spPr>
          <a:xfrm>
            <a:off x="896240" y="4171420"/>
            <a:ext cx="6094902" cy="307777"/>
          </a:xfrm>
          <a:prstGeom prst="rect">
            <a:avLst/>
          </a:prstGeom>
          <a:noFill/>
        </p:spPr>
        <p:txBody>
          <a:bodyPr wrap="square">
            <a:spAutoFit/>
          </a:bodyPr>
          <a:lstStyle/>
          <a:p>
            <a:pPr marL="0" marR="0" lvl="0" indent="0" algn="l" rtl="0">
              <a:spcBef>
                <a:spcPts val="0"/>
              </a:spcBef>
              <a:spcAft>
                <a:spcPts val="0"/>
              </a:spcAft>
              <a:buNone/>
            </a:pPr>
            <a:r>
              <a:rPr lang="en-US" sz="1400" b="1" i="0" u="none" strike="noStrike" cap="none" dirty="0">
                <a:solidFill>
                  <a:srgbClr val="003366"/>
                </a:solidFill>
                <a:latin typeface="Lexend"/>
                <a:ea typeface="Lexend"/>
                <a:cs typeface="Lexend"/>
                <a:sym typeface="Lexend"/>
              </a:rPr>
              <a:t>Quản </a:t>
            </a:r>
            <a:r>
              <a:rPr lang="en-US" sz="1400" b="1" i="0" u="none" strike="noStrike" cap="none" dirty="0" err="1">
                <a:solidFill>
                  <a:srgbClr val="003366"/>
                </a:solidFill>
                <a:latin typeface="Lexend"/>
                <a:ea typeface="Lexend"/>
                <a:cs typeface="Lexend"/>
                <a:sym typeface="Lexend"/>
              </a:rPr>
              <a:t>lý</a:t>
            </a:r>
            <a:r>
              <a:rPr lang="en-US" sz="1400" b="1" i="0" u="none" strike="noStrike" cap="none" dirty="0">
                <a:solidFill>
                  <a:srgbClr val="003366"/>
                </a:solidFill>
                <a:latin typeface="Lexend"/>
                <a:ea typeface="Lexend"/>
                <a:cs typeface="Lexend"/>
                <a:sym typeface="Lexend"/>
              </a:rPr>
              <a:t> </a:t>
            </a:r>
            <a:r>
              <a:rPr lang="en-US" sz="1400" b="1" i="0" u="none" strike="noStrike" cap="none" dirty="0" err="1">
                <a:solidFill>
                  <a:srgbClr val="003366"/>
                </a:solidFill>
                <a:latin typeface="Lexend"/>
                <a:ea typeface="Lexend"/>
                <a:cs typeface="Lexend"/>
                <a:sym typeface="Lexend"/>
              </a:rPr>
              <a:t>Sự</a:t>
            </a:r>
            <a:r>
              <a:rPr lang="en-US" sz="1400" b="1" i="0" u="none" strike="noStrike" cap="none" dirty="0">
                <a:solidFill>
                  <a:srgbClr val="003366"/>
                </a:solidFill>
                <a:latin typeface="Lexend"/>
                <a:ea typeface="Lexend"/>
                <a:cs typeface="Lexend"/>
                <a:sym typeface="Lexend"/>
              </a:rPr>
              <a:t> </a:t>
            </a:r>
            <a:r>
              <a:rPr lang="en-US" sz="1400" b="1" i="0" u="none" strike="noStrike" cap="none" dirty="0" err="1">
                <a:solidFill>
                  <a:srgbClr val="003366"/>
                </a:solidFill>
                <a:latin typeface="Lexend"/>
                <a:ea typeface="Lexend"/>
                <a:cs typeface="Lexend"/>
                <a:sym typeface="Lexend"/>
              </a:rPr>
              <a:t>kiện</a:t>
            </a:r>
            <a:endParaRPr lang="en-US" dirty="0"/>
          </a:p>
        </p:txBody>
      </p:sp>
      <p:sp>
        <p:nvSpPr>
          <p:cNvPr id="16" name="TextBox 15">
            <a:extLst>
              <a:ext uri="{FF2B5EF4-FFF2-40B4-BE49-F238E27FC236}">
                <a16:creationId xmlns:a16="http://schemas.microsoft.com/office/drawing/2014/main" id="{8CD83AC3-C344-AD26-F02E-D24FCAF606C0}"/>
              </a:ext>
            </a:extLst>
          </p:cNvPr>
          <p:cNvSpPr txBox="1"/>
          <p:nvPr/>
        </p:nvSpPr>
        <p:spPr>
          <a:xfrm>
            <a:off x="896240" y="4745366"/>
            <a:ext cx="4743450" cy="523220"/>
          </a:xfrm>
          <a:prstGeom prst="rect">
            <a:avLst/>
          </a:prstGeom>
          <a:noFill/>
        </p:spPr>
        <p:txBody>
          <a:bodyPr wrap="square">
            <a:spAutoFit/>
          </a:bodyPr>
          <a:lstStyle/>
          <a:p>
            <a:pPr marL="0" marR="0" lvl="0" indent="0" algn="l" rtl="0">
              <a:spcBef>
                <a:spcPts val="0"/>
              </a:spcBef>
              <a:spcAft>
                <a:spcPts val="0"/>
              </a:spcAft>
              <a:buNone/>
            </a:pPr>
            <a:r>
              <a:rPr lang="vi-VN" sz="1400" b="0" i="0" u="none" strike="noStrike" cap="none" dirty="0">
                <a:solidFill>
                  <a:srgbClr val="1E293B"/>
                </a:solidFill>
                <a:latin typeface="Inter"/>
                <a:ea typeface="Inter"/>
                <a:cs typeface="Inter"/>
                <a:sym typeface="Inter"/>
              </a:rPr>
              <a:t>Khởi tạo lịch họp, tự động lập lịch giỗ từ ngày mất, phản hồi RSVP và lưu tư liệu kỷ niệm.</a:t>
            </a:r>
            <a:endParaRPr lang="vi-VN" dirty="0"/>
          </a:p>
        </p:txBody>
      </p:sp>
      <p:sp>
        <p:nvSpPr>
          <p:cNvPr id="18" name="TextBox 17">
            <a:extLst>
              <a:ext uri="{FF2B5EF4-FFF2-40B4-BE49-F238E27FC236}">
                <a16:creationId xmlns:a16="http://schemas.microsoft.com/office/drawing/2014/main" id="{07AE9BD6-024C-C090-0FB3-056320B87BB6}"/>
              </a:ext>
            </a:extLst>
          </p:cNvPr>
          <p:cNvSpPr txBox="1"/>
          <p:nvPr/>
        </p:nvSpPr>
        <p:spPr>
          <a:xfrm>
            <a:off x="6414162" y="4138190"/>
            <a:ext cx="6094902" cy="307777"/>
          </a:xfrm>
          <a:prstGeom prst="rect">
            <a:avLst/>
          </a:prstGeom>
          <a:noFill/>
        </p:spPr>
        <p:txBody>
          <a:bodyPr wrap="square">
            <a:spAutoFit/>
          </a:bodyPr>
          <a:lstStyle/>
          <a:p>
            <a:pPr marL="0" marR="0" lvl="0" indent="0" algn="l" rtl="0">
              <a:spcBef>
                <a:spcPts val="0"/>
              </a:spcBef>
              <a:spcAft>
                <a:spcPts val="0"/>
              </a:spcAft>
              <a:buNone/>
            </a:pPr>
            <a:r>
              <a:rPr lang="en-US" sz="1400" b="1" i="0" u="none" strike="noStrike" cap="none" dirty="0">
                <a:solidFill>
                  <a:srgbClr val="003366"/>
                </a:solidFill>
                <a:latin typeface="Lexend"/>
                <a:ea typeface="Lexend"/>
                <a:cs typeface="Lexend"/>
                <a:sym typeface="Lexend"/>
              </a:rPr>
              <a:t>Quản </a:t>
            </a:r>
            <a:r>
              <a:rPr lang="en-US" sz="1400" b="1" i="0" u="none" strike="noStrike" cap="none" dirty="0" err="1">
                <a:solidFill>
                  <a:srgbClr val="003366"/>
                </a:solidFill>
                <a:latin typeface="Lexend"/>
                <a:ea typeface="Lexend"/>
                <a:cs typeface="Lexend"/>
                <a:sym typeface="Lexend"/>
              </a:rPr>
              <a:t>lý</a:t>
            </a:r>
            <a:r>
              <a:rPr lang="en-US" sz="1400" b="1" i="0" u="none" strike="noStrike" cap="none" dirty="0">
                <a:solidFill>
                  <a:srgbClr val="003366"/>
                </a:solidFill>
                <a:latin typeface="Lexend"/>
                <a:ea typeface="Lexend"/>
                <a:cs typeface="Lexend"/>
                <a:sym typeface="Lexend"/>
              </a:rPr>
              <a:t> </a:t>
            </a:r>
            <a:r>
              <a:rPr lang="en-US" b="1" dirty="0" err="1">
                <a:solidFill>
                  <a:srgbClr val="003366"/>
                </a:solidFill>
                <a:latin typeface="Lexend"/>
                <a:ea typeface="Lexend"/>
                <a:cs typeface="Lexend"/>
                <a:sym typeface="Lexend"/>
              </a:rPr>
              <a:t>Qũy</a:t>
            </a:r>
            <a:r>
              <a:rPr lang="en-US" b="1" dirty="0">
                <a:solidFill>
                  <a:srgbClr val="003366"/>
                </a:solidFill>
                <a:latin typeface="Lexend"/>
                <a:ea typeface="Lexend"/>
                <a:cs typeface="Lexend"/>
                <a:sym typeface="Lexend"/>
              </a:rPr>
              <a:t> </a:t>
            </a:r>
            <a:r>
              <a:rPr lang="en-US" b="1" dirty="0" err="1">
                <a:solidFill>
                  <a:srgbClr val="003366"/>
                </a:solidFill>
                <a:latin typeface="Lexend"/>
                <a:ea typeface="Lexend"/>
                <a:cs typeface="Lexend"/>
                <a:sym typeface="Lexend"/>
              </a:rPr>
              <a:t>dòng</a:t>
            </a:r>
            <a:r>
              <a:rPr lang="en-US" b="1" dirty="0">
                <a:solidFill>
                  <a:srgbClr val="003366"/>
                </a:solidFill>
                <a:latin typeface="Lexend"/>
                <a:ea typeface="Lexend"/>
                <a:cs typeface="Lexend"/>
                <a:sym typeface="Lexend"/>
              </a:rPr>
              <a:t> </a:t>
            </a:r>
            <a:r>
              <a:rPr lang="en-US" b="1" dirty="0" err="1">
                <a:solidFill>
                  <a:srgbClr val="003366"/>
                </a:solidFill>
                <a:latin typeface="Lexend"/>
                <a:ea typeface="Lexend"/>
                <a:cs typeface="Lexend"/>
                <a:sym typeface="Lexend"/>
              </a:rPr>
              <a:t>họ</a:t>
            </a:r>
            <a:r>
              <a:rPr lang="en-US" b="1" dirty="0">
                <a:solidFill>
                  <a:srgbClr val="003366"/>
                </a:solidFill>
                <a:latin typeface="Lexend"/>
                <a:ea typeface="Lexend"/>
                <a:cs typeface="Lexend"/>
                <a:sym typeface="Lexend"/>
              </a:rPr>
              <a:t> (</a:t>
            </a:r>
            <a:r>
              <a:rPr lang="en-US" b="1" dirty="0" err="1">
                <a:solidFill>
                  <a:srgbClr val="003366"/>
                </a:solidFill>
                <a:latin typeface="Lexend"/>
                <a:ea typeface="Lexend"/>
                <a:cs typeface="Lexend"/>
                <a:sym typeface="Lexend"/>
              </a:rPr>
              <a:t>Tài</a:t>
            </a:r>
            <a:r>
              <a:rPr lang="en-US" b="1" dirty="0">
                <a:solidFill>
                  <a:srgbClr val="003366"/>
                </a:solidFill>
                <a:latin typeface="Lexend"/>
                <a:ea typeface="Lexend"/>
                <a:cs typeface="Lexend"/>
                <a:sym typeface="Lexend"/>
              </a:rPr>
              <a:t> </a:t>
            </a:r>
            <a:r>
              <a:rPr lang="en-US" b="1" dirty="0" err="1">
                <a:solidFill>
                  <a:srgbClr val="003366"/>
                </a:solidFill>
                <a:latin typeface="Lexend"/>
                <a:ea typeface="Lexend"/>
                <a:cs typeface="Lexend"/>
                <a:sym typeface="Lexend"/>
              </a:rPr>
              <a:t>chính</a:t>
            </a:r>
            <a:r>
              <a:rPr lang="en-US" b="1" dirty="0">
                <a:solidFill>
                  <a:srgbClr val="003366"/>
                </a:solidFill>
                <a:latin typeface="Lexend"/>
                <a:ea typeface="Lexend"/>
                <a:cs typeface="Lexend"/>
                <a:sym typeface="Lexend"/>
              </a:rPr>
              <a:t>)</a:t>
            </a:r>
            <a:endParaRPr lang="en-US" dirty="0"/>
          </a:p>
        </p:txBody>
      </p:sp>
      <p:sp>
        <p:nvSpPr>
          <p:cNvPr id="20" name="TextBox 19">
            <a:extLst>
              <a:ext uri="{FF2B5EF4-FFF2-40B4-BE49-F238E27FC236}">
                <a16:creationId xmlns:a16="http://schemas.microsoft.com/office/drawing/2014/main" id="{65BC0851-74BF-6F28-D9BA-E3453055B3B9}"/>
              </a:ext>
            </a:extLst>
          </p:cNvPr>
          <p:cNvSpPr txBox="1"/>
          <p:nvPr/>
        </p:nvSpPr>
        <p:spPr>
          <a:xfrm>
            <a:off x="6414162" y="4627596"/>
            <a:ext cx="4743450" cy="523220"/>
          </a:xfrm>
          <a:prstGeom prst="rect">
            <a:avLst/>
          </a:prstGeom>
          <a:noFill/>
        </p:spPr>
        <p:txBody>
          <a:bodyPr wrap="square">
            <a:spAutoFit/>
          </a:bodyPr>
          <a:lstStyle/>
          <a:p>
            <a:pPr marL="0" marR="0" lvl="0" indent="0" algn="l" rtl="0">
              <a:spcBef>
                <a:spcPts val="0"/>
              </a:spcBef>
              <a:spcAft>
                <a:spcPts val="0"/>
              </a:spcAft>
              <a:buNone/>
            </a:pPr>
            <a:r>
              <a:rPr lang="en-US" sz="1400" b="0" i="0" u="none" strike="noStrike" cap="none" dirty="0" err="1">
                <a:solidFill>
                  <a:srgbClr val="1E293B"/>
                </a:solidFill>
                <a:latin typeface="Inter"/>
                <a:ea typeface="Inter"/>
                <a:cs typeface="Inter"/>
                <a:sym typeface="Inter"/>
              </a:rPr>
              <a:t>Thiết</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lập</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định</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mức</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thu</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niên</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liễm</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ghi</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nhận</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thu</a:t>
            </a:r>
            <a:r>
              <a:rPr lang="en-US" sz="1400" b="0" i="0" u="none" strike="noStrike" cap="none" dirty="0">
                <a:solidFill>
                  <a:srgbClr val="1E293B"/>
                </a:solidFill>
                <a:latin typeface="Inter"/>
                <a:ea typeface="Inter"/>
                <a:cs typeface="Inter"/>
                <a:sym typeface="Inter"/>
              </a:rPr>
              <a:t>/chi </a:t>
            </a:r>
            <a:r>
              <a:rPr lang="en-US" sz="1400" b="0" i="0" u="none" strike="noStrike" cap="none" dirty="0" err="1">
                <a:solidFill>
                  <a:srgbClr val="1E293B"/>
                </a:solidFill>
                <a:latin typeface="Inter"/>
                <a:ea typeface="Inter"/>
                <a:cs typeface="Inter"/>
                <a:sym typeface="Inter"/>
              </a:rPr>
              <a:t>thực</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tế</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và</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báo</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cáo</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quyết</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toán</a:t>
            </a:r>
            <a:r>
              <a:rPr lang="en-US" sz="1400" b="0" i="0" u="none" strike="noStrike" cap="none" dirty="0">
                <a:solidFill>
                  <a:srgbClr val="1E293B"/>
                </a:solidFill>
                <a:latin typeface="Inter"/>
                <a:ea typeface="Inter"/>
                <a:cs typeface="Inter"/>
                <a:sym typeface="Inter"/>
              </a:rPr>
              <a:t> </a:t>
            </a:r>
            <a:r>
              <a:rPr lang="en-US" sz="1400" b="0" i="0" u="none" strike="noStrike" cap="none" dirty="0" err="1">
                <a:solidFill>
                  <a:srgbClr val="1E293B"/>
                </a:solidFill>
                <a:latin typeface="Inter"/>
                <a:ea typeface="Inter"/>
                <a:cs typeface="Inter"/>
                <a:sym typeface="Inter"/>
              </a:rPr>
              <a:t>quỹ</a:t>
            </a:r>
            <a:r>
              <a:rPr lang="en-US" sz="1400" b="0" i="0" u="none" strike="noStrike" cap="none" dirty="0">
                <a:solidFill>
                  <a:srgbClr val="1E293B"/>
                </a:solidFill>
                <a:latin typeface="Inter"/>
                <a:ea typeface="Inter"/>
                <a:cs typeface="Inter"/>
                <a:sym typeface="Inter"/>
              </a:rPr>
              <a: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82"/>
        <p:cNvGrpSpPr/>
        <p:nvPr/>
      </p:nvGrpSpPr>
      <p:grpSpPr>
        <a:xfrm>
          <a:off x="0" y="0"/>
          <a:ext cx="0" cy="0"/>
          <a:chOff x="0" y="0"/>
          <a:chExt cx="0" cy="0"/>
        </a:xfrm>
      </p:grpSpPr>
      <p:pic>
        <p:nvPicPr>
          <p:cNvPr id="383" name="Google Shape;383;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84" name="Google Shape;384;p29"/>
          <p:cNvSpPr txBox="1"/>
          <p:nvPr/>
        </p:nvSpPr>
        <p:spPr>
          <a:xfrm>
            <a:off x="666750" y="504393"/>
            <a:ext cx="11401425" cy="87716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a:solidFill>
                  <a:srgbClr val="003366"/>
                </a:solidFill>
                <a:latin typeface="Lexend"/>
                <a:ea typeface="Lexend"/>
                <a:cs typeface="Lexend"/>
                <a:sym typeface="Lexend"/>
              </a:rPr>
              <a:t>Sequence: </a:t>
            </a:r>
            <a:r>
              <a:rPr lang="en-US" sz="2850" b="1" i="0" u="none" strike="noStrike" cap="none" dirty="0" err="1">
                <a:solidFill>
                  <a:srgbClr val="003366"/>
                </a:solidFill>
                <a:latin typeface="Lexend"/>
                <a:ea typeface="Lexend"/>
                <a:cs typeface="Lexend"/>
                <a:sym typeface="Lexend"/>
              </a:rPr>
              <a:t>Đăng</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ký</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tài</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khoản</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cá</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nhân</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và</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gửi</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yêu</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cầu</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tham</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gia</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dòng</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họ</a:t>
            </a:r>
            <a:endParaRPr dirty="0"/>
          </a:p>
        </p:txBody>
      </p:sp>
      <p:sp>
        <p:nvSpPr>
          <p:cNvPr id="385" name="Google Shape;385;p29"/>
          <p:cNvSpPr/>
          <p:nvPr/>
        </p:nvSpPr>
        <p:spPr>
          <a:xfrm>
            <a:off x="666750" y="933450"/>
            <a:ext cx="54387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DA4D4C83-2ABF-8FA3-A4D7-C9EC5FC03AA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6750" y="1721419"/>
            <a:ext cx="10927151" cy="43390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61"/>
        <p:cNvGrpSpPr/>
        <p:nvPr/>
      </p:nvGrpSpPr>
      <p:grpSpPr>
        <a:xfrm>
          <a:off x="0" y="0"/>
          <a:ext cx="0" cy="0"/>
          <a:chOff x="0" y="0"/>
          <a:chExt cx="0" cy="0"/>
        </a:xfrm>
      </p:grpSpPr>
      <p:pic>
        <p:nvPicPr>
          <p:cNvPr id="262" name="Google Shape;262;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3" name="Google Shape;263;p21" descr="image.png"/>
          <p:cNvPicPr preferRelativeResize="0"/>
          <p:nvPr/>
        </p:nvPicPr>
        <p:blipFill rotWithShape="1">
          <a:blip r:embed="rId4">
            <a:alphaModFix/>
          </a:blip>
          <a:srcRect/>
          <a:stretch/>
        </p:blipFill>
        <p:spPr>
          <a:xfrm>
            <a:off x="6286500" y="3114675"/>
            <a:ext cx="5238750" cy="1466850"/>
          </a:xfrm>
          <a:prstGeom prst="rect">
            <a:avLst/>
          </a:prstGeom>
          <a:noFill/>
          <a:ln>
            <a:noFill/>
          </a:ln>
        </p:spPr>
      </p:pic>
      <p:sp>
        <p:nvSpPr>
          <p:cNvPr id="264" name="Google Shape;264;p21"/>
          <p:cNvSpPr txBox="1"/>
          <p:nvPr/>
        </p:nvSpPr>
        <p:spPr>
          <a:xfrm>
            <a:off x="666750" y="485559"/>
            <a:ext cx="11401425"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a:solidFill>
                  <a:srgbClr val="003366"/>
                </a:solidFill>
                <a:latin typeface="Lexend"/>
                <a:ea typeface="Lexend"/>
                <a:cs typeface="Lexend"/>
                <a:sym typeface="Lexend"/>
              </a:rPr>
              <a:t>Quy </a:t>
            </a:r>
            <a:r>
              <a:rPr lang="en-US" sz="2850" b="1" i="0" u="none" strike="noStrike" cap="none" dirty="0" err="1">
                <a:solidFill>
                  <a:srgbClr val="003366"/>
                </a:solidFill>
                <a:latin typeface="Lexend"/>
                <a:ea typeface="Lexend"/>
                <a:cs typeface="Lexend"/>
                <a:sym typeface="Lexend"/>
              </a:rPr>
              <a:t>trình</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nghiệp</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vụ</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Quản</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lý</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Cây</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gia</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phả</a:t>
            </a:r>
            <a:endParaRPr dirty="0"/>
          </a:p>
        </p:txBody>
      </p:sp>
      <p:sp>
        <p:nvSpPr>
          <p:cNvPr id="265" name="Google Shape;265;p21"/>
          <p:cNvSpPr/>
          <p:nvPr/>
        </p:nvSpPr>
        <p:spPr>
          <a:xfrm>
            <a:off x="666750" y="933450"/>
            <a:ext cx="49815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9" name="Google Shape;269;p21"/>
          <p:cNvSpPr txBox="1"/>
          <p:nvPr/>
        </p:nvSpPr>
        <p:spPr>
          <a:xfrm>
            <a:off x="6581775" y="3562350"/>
            <a:ext cx="46482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Inter"/>
                <a:ea typeface="Inter"/>
                <a:cs typeface="Inter"/>
                <a:sym typeface="Inter"/>
              </a:rPr>
              <a:t>Mô tả:</a:t>
            </a:r>
            <a:r>
              <a:rPr lang="en-US" sz="1200" b="0" i="0" u="none" strike="noStrike" cap="none">
                <a:solidFill>
                  <a:srgbClr val="1E293B"/>
                </a:solidFill>
                <a:latin typeface="Inter"/>
                <a:ea typeface="Inter"/>
                <a:cs typeface="Inter"/>
                <a:sym typeface="Inter"/>
              </a:rPr>
              <a:t> Hệ thống tiếp nhận thông tin từ Trưởng họ, thực hiện kiểm tra các ràng buộc logic về tuổi tác và quan hệ trước khi lưu vào CSDL và vẽ lại sơ đồ cây phả hệ số.</a:t>
            </a:r>
            <a:endParaRPr/>
          </a:p>
        </p:txBody>
      </p:sp>
      <p:pic>
        <p:nvPicPr>
          <p:cNvPr id="2" name="Picture 1" descr="Không có mô tả.">
            <a:extLst>
              <a:ext uri="{FF2B5EF4-FFF2-40B4-BE49-F238E27FC236}">
                <a16:creationId xmlns:a16="http://schemas.microsoft.com/office/drawing/2014/main" id="{2C8E1EC6-8A08-AE37-5668-310687157C1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47417" y="1389754"/>
            <a:ext cx="5843808" cy="49919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91"/>
        <p:cNvGrpSpPr/>
        <p:nvPr/>
      </p:nvGrpSpPr>
      <p:grpSpPr>
        <a:xfrm>
          <a:off x="0" y="0"/>
          <a:ext cx="0" cy="0"/>
          <a:chOff x="0" y="0"/>
          <a:chExt cx="0" cy="0"/>
        </a:xfrm>
      </p:grpSpPr>
      <p:pic>
        <p:nvPicPr>
          <p:cNvPr id="392" name="Google Shape;392;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93" name="Google Shape;393;p30"/>
          <p:cNvSpPr txBox="1"/>
          <p:nvPr/>
        </p:nvSpPr>
        <p:spPr>
          <a:xfrm>
            <a:off x="666750" y="485559"/>
            <a:ext cx="11401425"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a:solidFill>
                  <a:srgbClr val="003366"/>
                </a:solidFill>
                <a:latin typeface="Lexend"/>
                <a:ea typeface="Lexend"/>
                <a:cs typeface="Lexend"/>
                <a:sym typeface="Lexend"/>
              </a:rPr>
              <a:t>Sequence:</a:t>
            </a:r>
            <a:r>
              <a:rPr lang="en-US" sz="2850" b="1" dirty="0">
                <a:solidFill>
                  <a:srgbClr val="003366"/>
                </a:solidFill>
                <a:latin typeface="Lexend"/>
                <a:ea typeface="Lexend"/>
                <a:cs typeface="Lexend"/>
                <a:sym typeface="Lexend"/>
              </a:rPr>
              <a:t> </a:t>
            </a:r>
            <a:r>
              <a:rPr lang="en-US" sz="2850" b="1" dirty="0" err="1">
                <a:solidFill>
                  <a:srgbClr val="003366"/>
                </a:solidFill>
                <a:latin typeface="Lexend"/>
                <a:ea typeface="Lexend"/>
                <a:cs typeface="Lexend"/>
                <a:sym typeface="Lexend"/>
              </a:rPr>
              <a:t>Thêm</a:t>
            </a:r>
            <a:r>
              <a:rPr lang="en-US" sz="2850" b="1" dirty="0">
                <a:solidFill>
                  <a:srgbClr val="003366"/>
                </a:solidFill>
                <a:latin typeface="Lexend"/>
                <a:ea typeface="Lexend"/>
                <a:cs typeface="Lexend"/>
                <a:sym typeface="Lexend"/>
              </a:rPr>
              <a:t> </a:t>
            </a:r>
            <a:r>
              <a:rPr lang="en-US" sz="2850" b="1" dirty="0" err="1">
                <a:solidFill>
                  <a:srgbClr val="003366"/>
                </a:solidFill>
                <a:latin typeface="Lexend"/>
                <a:ea typeface="Lexend"/>
                <a:cs typeface="Lexend"/>
                <a:sym typeface="Lexend"/>
              </a:rPr>
              <a:t>thành</a:t>
            </a:r>
            <a:r>
              <a:rPr lang="en-US" sz="2850" b="1" dirty="0">
                <a:solidFill>
                  <a:srgbClr val="003366"/>
                </a:solidFill>
                <a:latin typeface="Lexend"/>
                <a:ea typeface="Lexend"/>
                <a:cs typeface="Lexend"/>
                <a:sym typeface="Lexend"/>
              </a:rPr>
              <a:t> </a:t>
            </a:r>
            <a:r>
              <a:rPr lang="en-US" sz="2850" b="1" dirty="0" err="1">
                <a:solidFill>
                  <a:srgbClr val="003366"/>
                </a:solidFill>
                <a:latin typeface="Lexend"/>
                <a:ea typeface="Lexend"/>
                <a:cs typeface="Lexend"/>
                <a:sym typeface="Lexend"/>
              </a:rPr>
              <a:t>viên</a:t>
            </a:r>
            <a:r>
              <a:rPr lang="en-US" sz="2850" b="1" dirty="0">
                <a:solidFill>
                  <a:srgbClr val="003366"/>
                </a:solidFill>
                <a:latin typeface="Lexend"/>
                <a:ea typeface="Lexend"/>
                <a:cs typeface="Lexend"/>
                <a:sym typeface="Lexend"/>
              </a:rPr>
              <a:t> </a:t>
            </a:r>
            <a:r>
              <a:rPr lang="en-US" sz="2850" b="1" dirty="0" err="1">
                <a:solidFill>
                  <a:srgbClr val="003366"/>
                </a:solidFill>
                <a:latin typeface="Lexend"/>
                <a:ea typeface="Lexend"/>
                <a:cs typeface="Lexend"/>
                <a:sym typeface="Lexend"/>
              </a:rPr>
              <a:t>mới</a:t>
            </a:r>
            <a:endParaRPr dirty="0"/>
          </a:p>
        </p:txBody>
      </p:sp>
      <p:sp>
        <p:nvSpPr>
          <p:cNvPr id="394" name="Google Shape;394;p30"/>
          <p:cNvSpPr/>
          <p:nvPr/>
        </p:nvSpPr>
        <p:spPr>
          <a:xfrm>
            <a:off x="666750" y="933450"/>
            <a:ext cx="57912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93785020-119E-E1CF-6F08-E76A00882141}"/>
              </a:ext>
            </a:extLst>
          </p:cNvPr>
          <p:cNvPicPr>
            <a:picLocks noChangeAspect="1"/>
          </p:cNvPicPr>
          <p:nvPr/>
        </p:nvPicPr>
        <p:blipFill>
          <a:blip r:embed="rId4"/>
          <a:stretch>
            <a:fillRect/>
          </a:stretch>
        </p:blipFill>
        <p:spPr>
          <a:xfrm>
            <a:off x="641051" y="1705515"/>
            <a:ext cx="10909898" cy="43899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73"/>
        <p:cNvGrpSpPr/>
        <p:nvPr/>
      </p:nvGrpSpPr>
      <p:grpSpPr>
        <a:xfrm>
          <a:off x="0" y="0"/>
          <a:ext cx="0" cy="0"/>
          <a:chOff x="0" y="0"/>
          <a:chExt cx="0" cy="0"/>
        </a:xfrm>
      </p:grpSpPr>
      <p:pic>
        <p:nvPicPr>
          <p:cNvPr id="274" name="Google Shape;274;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5" name="Google Shape;275;p22" descr="image.png"/>
          <p:cNvPicPr preferRelativeResize="0"/>
          <p:nvPr/>
        </p:nvPicPr>
        <p:blipFill rotWithShape="1">
          <a:blip r:embed="rId4">
            <a:alphaModFix/>
          </a:blip>
          <a:srcRect/>
          <a:stretch/>
        </p:blipFill>
        <p:spPr>
          <a:xfrm>
            <a:off x="666750" y="3114675"/>
            <a:ext cx="5238750" cy="1466850"/>
          </a:xfrm>
          <a:prstGeom prst="rect">
            <a:avLst/>
          </a:prstGeom>
          <a:noFill/>
          <a:ln>
            <a:noFill/>
          </a:ln>
        </p:spPr>
      </p:pic>
      <p:sp>
        <p:nvSpPr>
          <p:cNvPr id="276" name="Google Shape;276;p22"/>
          <p:cNvSpPr txBox="1"/>
          <p:nvPr/>
        </p:nvSpPr>
        <p:spPr>
          <a:xfrm>
            <a:off x="666750" y="485559"/>
            <a:ext cx="11401425"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a:solidFill>
                  <a:srgbClr val="003366"/>
                </a:solidFill>
                <a:latin typeface="Lexend"/>
                <a:ea typeface="Lexend"/>
                <a:cs typeface="Lexend"/>
                <a:sym typeface="Lexend"/>
              </a:rPr>
              <a:t>Quy </a:t>
            </a:r>
            <a:r>
              <a:rPr lang="en-US" sz="2850" b="1" i="0" u="none" strike="noStrike" cap="none" dirty="0" err="1">
                <a:solidFill>
                  <a:srgbClr val="003366"/>
                </a:solidFill>
                <a:latin typeface="Lexend"/>
                <a:ea typeface="Lexend"/>
                <a:cs typeface="Lexend"/>
                <a:sym typeface="Lexend"/>
              </a:rPr>
              <a:t>trình</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nghiệp</a:t>
            </a:r>
            <a:r>
              <a:rPr lang="en-US" sz="2850" b="1"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vụ</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Quản</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lý</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Sự</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kiện</a:t>
            </a:r>
            <a:endParaRPr dirty="0"/>
          </a:p>
        </p:txBody>
      </p:sp>
      <p:sp>
        <p:nvSpPr>
          <p:cNvPr id="277" name="Google Shape;277;p22"/>
          <p:cNvSpPr/>
          <p:nvPr/>
        </p:nvSpPr>
        <p:spPr>
          <a:xfrm>
            <a:off x="666750" y="933450"/>
            <a:ext cx="58674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2"/>
          <p:cNvSpPr txBox="1"/>
          <p:nvPr/>
        </p:nvSpPr>
        <p:spPr>
          <a:xfrm>
            <a:off x="962025" y="3562350"/>
            <a:ext cx="46482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Inter"/>
                <a:ea typeface="Inter"/>
                <a:cs typeface="Inter"/>
                <a:sym typeface="Inter"/>
              </a:rPr>
              <a:t>Mô tả:</a:t>
            </a:r>
            <a:r>
              <a:rPr lang="en-US" sz="1200" b="0" i="0" u="none" strike="noStrike" cap="none">
                <a:solidFill>
                  <a:srgbClr val="1E293B"/>
                </a:solidFill>
                <a:latin typeface="Inter"/>
                <a:ea typeface="Inter"/>
                <a:cs typeface="Inter"/>
                <a:sym typeface="Inter"/>
              </a:rPr>
              <a:t> Khi sự kiện được tạo (họp họ, lễ giỗ), hệ thống tự động quét danh sách thành viên liên quan để phát đi thông báo đa kênh và tiếp nhận phản hồi tham dự.</a:t>
            </a:r>
            <a:endParaRPr/>
          </a:p>
        </p:txBody>
      </p:sp>
      <p:sp>
        <p:nvSpPr>
          <p:cNvPr id="281" name="Google Shape;281;p22"/>
          <p:cNvSpPr txBox="1"/>
          <p:nvPr/>
        </p:nvSpPr>
        <p:spPr>
          <a:xfrm>
            <a:off x="7667625" y="4062412"/>
            <a:ext cx="247650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94A3B8"/>
                </a:solidFill>
                <a:latin typeface="Inter"/>
                <a:ea typeface="Inter"/>
                <a:cs typeface="Inter"/>
                <a:sym typeface="Inter"/>
              </a:rPr>
              <a:t>[</a:t>
            </a:r>
            <a:endParaRPr dirty="0"/>
          </a:p>
        </p:txBody>
      </p:sp>
      <p:pic>
        <p:nvPicPr>
          <p:cNvPr id="2" name="Picture 1" descr="Không có mô tả.">
            <a:extLst>
              <a:ext uri="{FF2B5EF4-FFF2-40B4-BE49-F238E27FC236}">
                <a16:creationId xmlns:a16="http://schemas.microsoft.com/office/drawing/2014/main" id="{10934FE0-02B4-623E-3F5B-1F9B0843CAB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200775" y="1147045"/>
            <a:ext cx="5497181" cy="514637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00"/>
        <p:cNvGrpSpPr/>
        <p:nvPr/>
      </p:nvGrpSpPr>
      <p:grpSpPr>
        <a:xfrm>
          <a:off x="0" y="0"/>
          <a:ext cx="0" cy="0"/>
          <a:chOff x="0" y="0"/>
          <a:chExt cx="0" cy="0"/>
        </a:xfrm>
      </p:grpSpPr>
      <p:pic>
        <p:nvPicPr>
          <p:cNvPr id="401" name="Google Shape;401;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02" name="Google Shape;402;p31"/>
          <p:cNvSpPr txBox="1"/>
          <p:nvPr/>
        </p:nvSpPr>
        <p:spPr>
          <a:xfrm>
            <a:off x="666750" y="485559"/>
            <a:ext cx="11401425"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a:solidFill>
                  <a:srgbClr val="003366"/>
                </a:solidFill>
                <a:latin typeface="Lexend"/>
                <a:ea typeface="Lexend"/>
                <a:cs typeface="Lexend"/>
                <a:sym typeface="Lexend"/>
              </a:rPr>
              <a:t>Sequence: </a:t>
            </a:r>
            <a:r>
              <a:rPr lang="en-US" sz="2850" b="1" dirty="0" err="1">
                <a:solidFill>
                  <a:srgbClr val="003366"/>
                </a:solidFill>
                <a:latin typeface="Lexend"/>
                <a:ea typeface="Lexend"/>
                <a:cs typeface="Lexend"/>
                <a:sym typeface="Lexend"/>
              </a:rPr>
              <a:t>Tạo</a:t>
            </a:r>
            <a:r>
              <a:rPr lang="en-US" sz="2850" b="1" dirty="0">
                <a:solidFill>
                  <a:srgbClr val="003366"/>
                </a:solidFill>
                <a:latin typeface="Lexend"/>
                <a:ea typeface="Lexend"/>
                <a:cs typeface="Lexend"/>
                <a:sym typeface="Lexend"/>
              </a:rPr>
              <a:t> </a:t>
            </a:r>
            <a:r>
              <a:rPr lang="en-US" sz="2850" b="1" dirty="0" err="1">
                <a:solidFill>
                  <a:srgbClr val="003366"/>
                </a:solidFill>
                <a:latin typeface="Lexend"/>
                <a:ea typeface="Lexend"/>
                <a:cs typeface="Lexend"/>
                <a:sym typeface="Lexend"/>
              </a:rPr>
              <a:t>lịch</a:t>
            </a:r>
            <a:r>
              <a:rPr lang="en-US" sz="2850" b="1" dirty="0">
                <a:solidFill>
                  <a:srgbClr val="003366"/>
                </a:solidFill>
                <a:latin typeface="Lexend"/>
                <a:ea typeface="Lexend"/>
                <a:cs typeface="Lexend"/>
                <a:sym typeface="Lexend"/>
              </a:rPr>
              <a:t> </a:t>
            </a:r>
            <a:r>
              <a:rPr lang="en-US" sz="2850" b="1" dirty="0" err="1">
                <a:solidFill>
                  <a:srgbClr val="003366"/>
                </a:solidFill>
                <a:latin typeface="Lexend"/>
                <a:ea typeface="Lexend"/>
                <a:cs typeface="Lexend"/>
                <a:sym typeface="Lexend"/>
              </a:rPr>
              <a:t>giỗ</a:t>
            </a:r>
            <a:r>
              <a:rPr lang="en-US" sz="2850" b="1" dirty="0">
                <a:solidFill>
                  <a:srgbClr val="003366"/>
                </a:solidFill>
                <a:latin typeface="Lexend"/>
                <a:ea typeface="Lexend"/>
                <a:cs typeface="Lexend"/>
                <a:sym typeface="Lexend"/>
              </a:rPr>
              <a:t> </a:t>
            </a:r>
            <a:r>
              <a:rPr lang="en-US" sz="2850" b="1" dirty="0" err="1">
                <a:solidFill>
                  <a:srgbClr val="003366"/>
                </a:solidFill>
                <a:latin typeface="Lexend"/>
                <a:ea typeface="Lexend"/>
                <a:cs typeface="Lexend"/>
                <a:sym typeface="Lexend"/>
              </a:rPr>
              <a:t>tự</a:t>
            </a:r>
            <a:r>
              <a:rPr lang="en-US" sz="2850" b="1" dirty="0">
                <a:solidFill>
                  <a:srgbClr val="003366"/>
                </a:solidFill>
                <a:latin typeface="Lexend"/>
                <a:ea typeface="Lexend"/>
                <a:cs typeface="Lexend"/>
                <a:sym typeface="Lexend"/>
              </a:rPr>
              <a:t> </a:t>
            </a:r>
            <a:r>
              <a:rPr lang="en-US" sz="2850" b="1" dirty="0" err="1">
                <a:solidFill>
                  <a:srgbClr val="003366"/>
                </a:solidFill>
                <a:latin typeface="Lexend"/>
                <a:ea typeface="Lexend"/>
                <a:cs typeface="Lexend"/>
                <a:sym typeface="Lexend"/>
              </a:rPr>
              <a:t>động</a:t>
            </a:r>
            <a:endParaRPr dirty="0"/>
          </a:p>
        </p:txBody>
      </p:sp>
      <p:sp>
        <p:nvSpPr>
          <p:cNvPr id="403" name="Google Shape;403;p31"/>
          <p:cNvSpPr/>
          <p:nvPr/>
        </p:nvSpPr>
        <p:spPr>
          <a:xfrm>
            <a:off x="666750" y="933450"/>
            <a:ext cx="61436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16DE9A0B-8192-47F4-633E-56B7A76F56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929" y="1244341"/>
            <a:ext cx="10858141" cy="476757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85"/>
        <p:cNvGrpSpPr/>
        <p:nvPr/>
      </p:nvGrpSpPr>
      <p:grpSpPr>
        <a:xfrm>
          <a:off x="0" y="0"/>
          <a:ext cx="0" cy="0"/>
          <a:chOff x="0" y="0"/>
          <a:chExt cx="0" cy="0"/>
        </a:xfrm>
      </p:grpSpPr>
      <p:pic>
        <p:nvPicPr>
          <p:cNvPr id="286" name="Google Shape;286;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7" name="Google Shape;287;p23" descr="image.png"/>
          <p:cNvPicPr preferRelativeResize="0"/>
          <p:nvPr/>
        </p:nvPicPr>
        <p:blipFill rotWithShape="1">
          <a:blip r:embed="rId4">
            <a:alphaModFix/>
          </a:blip>
          <a:srcRect/>
          <a:stretch/>
        </p:blipFill>
        <p:spPr>
          <a:xfrm>
            <a:off x="6286500" y="1943101"/>
            <a:ext cx="5238750" cy="1626806"/>
          </a:xfrm>
          <a:prstGeom prst="rect">
            <a:avLst/>
          </a:prstGeom>
          <a:noFill/>
          <a:ln>
            <a:noFill/>
          </a:ln>
        </p:spPr>
      </p:pic>
      <p:sp>
        <p:nvSpPr>
          <p:cNvPr id="288" name="Google Shape;288;p23"/>
          <p:cNvSpPr txBox="1"/>
          <p:nvPr/>
        </p:nvSpPr>
        <p:spPr>
          <a:xfrm>
            <a:off x="666750" y="485559"/>
            <a:ext cx="11401425"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a:solidFill>
                  <a:srgbClr val="003366"/>
                </a:solidFill>
                <a:latin typeface="Lexend"/>
                <a:ea typeface="Lexend"/>
                <a:cs typeface="Lexend"/>
                <a:sym typeface="Lexend"/>
              </a:rPr>
              <a:t>Quy </a:t>
            </a:r>
            <a:r>
              <a:rPr lang="en-US" sz="2850" b="1" i="0" u="none" strike="noStrike" cap="none" dirty="0" err="1">
                <a:solidFill>
                  <a:srgbClr val="003366"/>
                </a:solidFill>
                <a:latin typeface="Lexend"/>
                <a:ea typeface="Lexend"/>
                <a:cs typeface="Lexend"/>
                <a:sym typeface="Lexend"/>
              </a:rPr>
              <a:t>trình</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nghiệp</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vụ</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Quản</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lý</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Quỹ</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dòng</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họ</a:t>
            </a:r>
            <a:endParaRPr dirty="0"/>
          </a:p>
        </p:txBody>
      </p:sp>
      <p:sp>
        <p:nvSpPr>
          <p:cNvPr id="289" name="Google Shape;289;p23"/>
          <p:cNvSpPr/>
          <p:nvPr/>
        </p:nvSpPr>
        <p:spPr>
          <a:xfrm>
            <a:off x="666750" y="933450"/>
            <a:ext cx="64674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3" name="Google Shape;293;p23"/>
          <p:cNvSpPr txBox="1"/>
          <p:nvPr/>
        </p:nvSpPr>
        <p:spPr>
          <a:xfrm>
            <a:off x="6581775" y="2390775"/>
            <a:ext cx="46482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Inter"/>
                <a:ea typeface="Inter"/>
                <a:cs typeface="Inter"/>
                <a:sym typeface="Inter"/>
              </a:rPr>
              <a:t>Minh bạch tài chính:</a:t>
            </a:r>
            <a:r>
              <a:rPr lang="en-US" sz="1200" b="0" i="0" u="none" strike="noStrike" cap="none">
                <a:solidFill>
                  <a:srgbClr val="1E293B"/>
                </a:solidFill>
                <a:latin typeface="Inter"/>
                <a:ea typeface="Inter"/>
                <a:cs typeface="Inter"/>
                <a:sym typeface="Inter"/>
              </a:rPr>
              <a:t> Mỗi giao dịch thu chi đều yêu cầu chứng từ đi kèm. Hệ thống tự động đối soát số dư và kết xuất báo cáo tồn quỹ theo thời gian thực.</a:t>
            </a:r>
            <a:endParaRPr/>
          </a:p>
        </p:txBody>
      </p:sp>
      <p:pic>
        <p:nvPicPr>
          <p:cNvPr id="2" name="Picture 1" descr="Không có mô tả.">
            <a:extLst>
              <a:ext uri="{FF2B5EF4-FFF2-40B4-BE49-F238E27FC236}">
                <a16:creationId xmlns:a16="http://schemas.microsoft.com/office/drawing/2014/main" id="{DFFE44DF-5AAA-9AE0-9D4D-1E1D79833EF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6251" y="1177290"/>
            <a:ext cx="5429250" cy="53416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0">
          <a:extLst>
            <a:ext uri="{FF2B5EF4-FFF2-40B4-BE49-F238E27FC236}">
              <a16:creationId xmlns:a16="http://schemas.microsoft.com/office/drawing/2014/main" id="{72BBB297-42F8-D6A3-4FD8-B015F74AF56F}"/>
            </a:ext>
          </a:extLst>
        </p:cNvPr>
        <p:cNvGrpSpPr/>
        <p:nvPr/>
      </p:nvGrpSpPr>
      <p:grpSpPr>
        <a:xfrm>
          <a:off x="0" y="0"/>
          <a:ext cx="0" cy="0"/>
          <a:chOff x="0" y="0"/>
          <a:chExt cx="0" cy="0"/>
        </a:xfrm>
      </p:grpSpPr>
      <p:pic>
        <p:nvPicPr>
          <p:cNvPr id="401" name="Google Shape;401;p31" descr="image.png">
            <a:extLst>
              <a:ext uri="{FF2B5EF4-FFF2-40B4-BE49-F238E27FC236}">
                <a16:creationId xmlns:a16="http://schemas.microsoft.com/office/drawing/2014/main" id="{8287D785-39CA-AF47-C31C-EA1F8BD3ED5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02" name="Google Shape;402;p31">
            <a:extLst>
              <a:ext uri="{FF2B5EF4-FFF2-40B4-BE49-F238E27FC236}">
                <a16:creationId xmlns:a16="http://schemas.microsoft.com/office/drawing/2014/main" id="{9AE57F24-2E31-BA34-DDBB-63AC280F6409}"/>
              </a:ext>
            </a:extLst>
          </p:cNvPr>
          <p:cNvSpPr txBox="1"/>
          <p:nvPr/>
        </p:nvSpPr>
        <p:spPr>
          <a:xfrm>
            <a:off x="666750" y="485559"/>
            <a:ext cx="11401425"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a:solidFill>
                  <a:srgbClr val="003366"/>
                </a:solidFill>
                <a:latin typeface="Lexend"/>
                <a:ea typeface="Lexend"/>
                <a:cs typeface="Lexend"/>
                <a:sym typeface="Lexend"/>
              </a:rPr>
              <a:t>Sequence: </a:t>
            </a:r>
            <a:r>
              <a:rPr lang="en-US" sz="2850" b="1" i="0" u="none" strike="noStrike" cap="none" dirty="0" err="1">
                <a:solidFill>
                  <a:srgbClr val="003366"/>
                </a:solidFill>
                <a:latin typeface="Lexend"/>
                <a:ea typeface="Lexend"/>
                <a:cs typeface="Lexend"/>
                <a:sym typeface="Lexend"/>
              </a:rPr>
              <a:t>Ghi</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nhận</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khoản</a:t>
            </a:r>
            <a:r>
              <a:rPr lang="en-US" sz="2850" b="1" i="0" u="none" strike="noStrike" cap="none" dirty="0">
                <a:solidFill>
                  <a:srgbClr val="003366"/>
                </a:solidFill>
                <a:latin typeface="Lexend"/>
                <a:ea typeface="Lexend"/>
                <a:cs typeface="Lexend"/>
                <a:sym typeface="Lexend"/>
              </a:rPr>
              <a:t> chi</a:t>
            </a:r>
            <a:endParaRPr dirty="0"/>
          </a:p>
        </p:txBody>
      </p:sp>
      <p:sp>
        <p:nvSpPr>
          <p:cNvPr id="403" name="Google Shape;403;p31">
            <a:extLst>
              <a:ext uri="{FF2B5EF4-FFF2-40B4-BE49-F238E27FC236}">
                <a16:creationId xmlns:a16="http://schemas.microsoft.com/office/drawing/2014/main" id="{C9624CD1-3CD6-84A4-5C80-DADCD8369DBA}"/>
              </a:ext>
            </a:extLst>
          </p:cNvPr>
          <p:cNvSpPr/>
          <p:nvPr/>
        </p:nvSpPr>
        <p:spPr>
          <a:xfrm>
            <a:off x="666750" y="933450"/>
            <a:ext cx="61436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6BD65129-7DA1-3852-7606-870E7A16D8B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6751" y="1192242"/>
            <a:ext cx="10866766" cy="4846249"/>
          </a:xfrm>
          <a:prstGeom prst="rect">
            <a:avLst/>
          </a:prstGeom>
          <a:noFill/>
          <a:ln>
            <a:noFill/>
          </a:ln>
        </p:spPr>
      </p:pic>
    </p:spTree>
    <p:extLst>
      <p:ext uri="{BB962C8B-B14F-4D97-AF65-F5344CB8AC3E}">
        <p14:creationId xmlns:p14="http://schemas.microsoft.com/office/powerpoint/2010/main" val="3630800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35"/>
        <p:cNvGrpSpPr/>
        <p:nvPr/>
      </p:nvGrpSpPr>
      <p:grpSpPr>
        <a:xfrm>
          <a:off x="0" y="0"/>
          <a:ext cx="0" cy="0"/>
          <a:chOff x="0" y="0"/>
          <a:chExt cx="0" cy="0"/>
        </a:xfrm>
      </p:grpSpPr>
      <p:pic>
        <p:nvPicPr>
          <p:cNvPr id="336" name="Google Shape;336;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7" name="Google Shape;337;p27"/>
          <p:cNvSpPr txBox="1"/>
          <p:nvPr/>
        </p:nvSpPr>
        <p:spPr>
          <a:xfrm>
            <a:off x="666750" y="485559"/>
            <a:ext cx="11401425"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err="1">
                <a:solidFill>
                  <a:srgbClr val="003366"/>
                </a:solidFill>
                <a:latin typeface="Lexend"/>
                <a:ea typeface="Lexend"/>
                <a:cs typeface="Lexend"/>
                <a:sym typeface="Lexend"/>
              </a:rPr>
              <a:t>Kiến</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trúc</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Hệ</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thống</a:t>
            </a:r>
            <a:endParaRPr dirty="0"/>
          </a:p>
        </p:txBody>
      </p:sp>
      <p:sp>
        <p:nvSpPr>
          <p:cNvPr id="338" name="Google Shape;338;p27"/>
          <p:cNvSpPr/>
          <p:nvPr/>
        </p:nvSpPr>
        <p:spPr>
          <a:xfrm>
            <a:off x="666750" y="933450"/>
            <a:ext cx="57626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9" name="Google Shape;339;p27"/>
          <p:cNvSpPr txBox="1"/>
          <p:nvPr/>
        </p:nvSpPr>
        <p:spPr>
          <a:xfrm>
            <a:off x="750833" y="2265402"/>
            <a:ext cx="52387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err="1">
                <a:solidFill>
                  <a:srgbClr val="1E293B"/>
                </a:solidFill>
                <a:latin typeface="Inter"/>
                <a:ea typeface="Inter"/>
                <a:cs typeface="Inter"/>
                <a:sym typeface="Inter"/>
              </a:rPr>
              <a:t>Hệ</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thống</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tuân</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thủ</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mô</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hình</a:t>
            </a:r>
            <a:r>
              <a:rPr lang="en-US" sz="1800" b="0" i="0" u="none" strike="noStrike" cap="none" dirty="0">
                <a:solidFill>
                  <a:srgbClr val="1E293B"/>
                </a:solidFill>
                <a:latin typeface="Inter"/>
                <a:ea typeface="Inter"/>
                <a:cs typeface="Inter"/>
                <a:sym typeface="Inter"/>
              </a:rPr>
              <a:t> </a:t>
            </a:r>
            <a:r>
              <a:rPr lang="en-US" sz="1800" b="1" i="0" u="none" strike="noStrike" cap="none" dirty="0">
                <a:solidFill>
                  <a:srgbClr val="1E293B"/>
                </a:solidFill>
                <a:latin typeface="Inter"/>
                <a:ea typeface="Inter"/>
                <a:cs typeface="Inter"/>
                <a:sym typeface="Inter"/>
              </a:rPr>
              <a:t>Client-Server</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đảm</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bảo</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tính</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bảo</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mật</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và</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hiệu</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suất</a:t>
            </a:r>
            <a:r>
              <a:rPr lang="en-US" sz="1800" b="0" i="0" u="none" strike="noStrike" cap="none" dirty="0">
                <a:solidFill>
                  <a:srgbClr val="1E293B"/>
                </a:solidFill>
                <a:latin typeface="Inter"/>
                <a:ea typeface="Inter"/>
                <a:cs typeface="Inter"/>
                <a:sym typeface="Inter"/>
              </a:rPr>
              <a:t>:</a:t>
            </a:r>
            <a:endParaRPr sz="1800" dirty="0"/>
          </a:p>
        </p:txBody>
      </p:sp>
      <p:sp>
        <p:nvSpPr>
          <p:cNvPr id="342" name="Google Shape;342;p27"/>
          <p:cNvSpPr txBox="1"/>
          <p:nvPr/>
        </p:nvSpPr>
        <p:spPr>
          <a:xfrm>
            <a:off x="860699" y="3535629"/>
            <a:ext cx="857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1E293B"/>
                </a:solidFill>
                <a:latin typeface="Inter"/>
                <a:ea typeface="Inter"/>
                <a:cs typeface="Inter"/>
                <a:sym typeface="Inter"/>
              </a:rPr>
              <a:t>•</a:t>
            </a:r>
            <a:endParaRPr dirty="0"/>
          </a:p>
        </p:txBody>
      </p:sp>
      <p:sp>
        <p:nvSpPr>
          <p:cNvPr id="343" name="Google Shape;343;p27"/>
          <p:cNvSpPr txBox="1"/>
          <p:nvPr/>
        </p:nvSpPr>
        <p:spPr>
          <a:xfrm>
            <a:off x="1047749" y="3494127"/>
            <a:ext cx="4857750" cy="553998"/>
          </a:xfrm>
          <a:prstGeom prst="rect">
            <a:avLst/>
          </a:prstGeom>
          <a:noFill/>
          <a:ln>
            <a:noFill/>
          </a:ln>
        </p:spPr>
        <p:txBody>
          <a:bodyPr spcFirstLastPara="1" wrap="square" lIns="85725" tIns="0" rIns="0" bIns="0" anchor="t" anchorCtr="0">
            <a:spAutoFit/>
          </a:bodyPr>
          <a:lstStyle/>
          <a:p>
            <a:pPr marL="0" marR="0" lvl="0" indent="0" algn="l" rtl="0">
              <a:spcBef>
                <a:spcPts val="0"/>
              </a:spcBef>
              <a:spcAft>
                <a:spcPts val="0"/>
              </a:spcAft>
              <a:buNone/>
            </a:pPr>
            <a:r>
              <a:rPr lang="en-US" sz="1800" b="1" i="0" u="none" strike="noStrike" cap="none" dirty="0">
                <a:solidFill>
                  <a:srgbClr val="1E293B"/>
                </a:solidFill>
                <a:latin typeface="Inter"/>
                <a:ea typeface="Inter"/>
                <a:cs typeface="Inter"/>
                <a:sym typeface="Inter"/>
              </a:rPr>
              <a:t>Presentation:</a:t>
            </a:r>
            <a:r>
              <a:rPr lang="en-US" sz="1800" b="0" i="0" u="none" strike="noStrike" cap="none" dirty="0">
                <a:solidFill>
                  <a:srgbClr val="1E293B"/>
                </a:solidFill>
                <a:latin typeface="Inter"/>
                <a:ea typeface="Inter"/>
                <a:cs typeface="Inter"/>
                <a:sym typeface="Inter"/>
              </a:rPr>
              <a:t> Web UI </a:t>
            </a:r>
            <a:r>
              <a:rPr lang="en-US" sz="1800" b="0" i="0" u="none" strike="noStrike" cap="none" dirty="0" err="1">
                <a:solidFill>
                  <a:srgbClr val="1E293B"/>
                </a:solidFill>
                <a:latin typeface="Inter"/>
                <a:ea typeface="Inter"/>
                <a:cs typeface="Inter"/>
                <a:sym typeface="Inter"/>
              </a:rPr>
              <a:t>xây</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dựng</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bằng</a:t>
            </a:r>
            <a:r>
              <a:rPr lang="en-US" sz="1800" b="0" i="0" u="none" strike="noStrike" cap="none" dirty="0">
                <a:solidFill>
                  <a:srgbClr val="1E293B"/>
                </a:solidFill>
                <a:latin typeface="Inter"/>
                <a:ea typeface="Inter"/>
                <a:cs typeface="Inter"/>
                <a:sym typeface="Inter"/>
              </a:rPr>
              <a:t> ReactJS.</a:t>
            </a:r>
            <a:endParaRPr sz="1800" dirty="0"/>
          </a:p>
        </p:txBody>
      </p:sp>
      <p:sp>
        <p:nvSpPr>
          <p:cNvPr id="344" name="Google Shape;344;p27"/>
          <p:cNvSpPr txBox="1"/>
          <p:nvPr/>
        </p:nvSpPr>
        <p:spPr>
          <a:xfrm>
            <a:off x="860863" y="4229100"/>
            <a:ext cx="857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1E293B"/>
                </a:solidFill>
                <a:latin typeface="Inter"/>
                <a:ea typeface="Inter"/>
                <a:cs typeface="Inter"/>
                <a:sym typeface="Inter"/>
              </a:rPr>
              <a:t>•</a:t>
            </a:r>
            <a:endParaRPr dirty="0"/>
          </a:p>
        </p:txBody>
      </p:sp>
      <p:sp>
        <p:nvSpPr>
          <p:cNvPr id="345" name="Google Shape;345;p27"/>
          <p:cNvSpPr txBox="1"/>
          <p:nvPr/>
        </p:nvSpPr>
        <p:spPr>
          <a:xfrm>
            <a:off x="1047749" y="4724235"/>
            <a:ext cx="4857750" cy="553998"/>
          </a:xfrm>
          <a:prstGeom prst="rect">
            <a:avLst/>
          </a:prstGeom>
          <a:noFill/>
          <a:ln>
            <a:noFill/>
          </a:ln>
        </p:spPr>
        <p:txBody>
          <a:bodyPr spcFirstLastPara="1" wrap="square" lIns="85725" tIns="0" rIns="0" bIns="0" anchor="t" anchorCtr="0">
            <a:spAutoFit/>
          </a:bodyPr>
          <a:lstStyle/>
          <a:p>
            <a:pPr marL="0" marR="0" lvl="0" indent="0" algn="l" rtl="0">
              <a:spcBef>
                <a:spcPts val="0"/>
              </a:spcBef>
              <a:spcAft>
                <a:spcPts val="0"/>
              </a:spcAft>
              <a:buNone/>
            </a:pPr>
            <a:r>
              <a:rPr lang="en-US" sz="1800" b="1" i="0" u="none" strike="noStrike" cap="none" dirty="0">
                <a:solidFill>
                  <a:srgbClr val="1E293B"/>
                </a:solidFill>
                <a:latin typeface="Inter"/>
                <a:ea typeface="Inter"/>
                <a:cs typeface="Inter"/>
                <a:sym typeface="Inter"/>
              </a:rPr>
              <a:t>Application:</a:t>
            </a:r>
            <a:r>
              <a:rPr lang="en-US" sz="1800" b="0" i="0" u="none" strike="noStrike" cap="none" dirty="0">
                <a:solidFill>
                  <a:srgbClr val="1E293B"/>
                </a:solidFill>
                <a:latin typeface="Inter"/>
                <a:ea typeface="Inter"/>
                <a:cs typeface="Inter"/>
                <a:sym typeface="Inter"/>
              </a:rPr>
              <a:t> API Server </a:t>
            </a:r>
            <a:r>
              <a:rPr lang="en-US" sz="1800" b="0" i="0" u="none" strike="noStrike" cap="none" dirty="0" err="1">
                <a:solidFill>
                  <a:srgbClr val="1E293B"/>
                </a:solidFill>
                <a:latin typeface="Inter"/>
                <a:ea typeface="Inter"/>
                <a:cs typeface="Inter"/>
                <a:sym typeface="Inter"/>
              </a:rPr>
              <a:t>xử</a:t>
            </a:r>
            <a:r>
              <a:rPr lang="en-US" sz="1800" b="0" i="0" u="none" strike="noStrike" cap="none" dirty="0">
                <a:solidFill>
                  <a:srgbClr val="1E293B"/>
                </a:solidFill>
                <a:latin typeface="Inter"/>
                <a:ea typeface="Inter"/>
                <a:cs typeface="Inter"/>
                <a:sym typeface="Inter"/>
              </a:rPr>
              <a:t> </a:t>
            </a:r>
            <a:r>
              <a:rPr lang="en-US" sz="1800" b="0" i="0" u="none" strike="noStrike" cap="none" dirty="0" err="1">
                <a:solidFill>
                  <a:srgbClr val="1E293B"/>
                </a:solidFill>
                <a:latin typeface="Inter"/>
                <a:ea typeface="Inter"/>
                <a:cs typeface="Inter"/>
                <a:sym typeface="Inter"/>
              </a:rPr>
              <a:t>lý</a:t>
            </a:r>
            <a:r>
              <a:rPr lang="en-US" sz="1800" b="0" i="0" u="none" strike="noStrike" cap="none" dirty="0">
                <a:solidFill>
                  <a:srgbClr val="1E293B"/>
                </a:solidFill>
                <a:latin typeface="Inter"/>
                <a:ea typeface="Inter"/>
                <a:cs typeface="Inter"/>
                <a:sym typeface="Inter"/>
              </a:rPr>
              <a:t> logic </a:t>
            </a:r>
            <a:r>
              <a:rPr lang="en-US" sz="1800" b="0" i="0" u="none" strike="noStrike" cap="none" dirty="0" err="1">
                <a:solidFill>
                  <a:srgbClr val="1E293B"/>
                </a:solidFill>
                <a:latin typeface="Inter"/>
                <a:ea typeface="Inter"/>
                <a:cs typeface="Inter"/>
                <a:sym typeface="Inter"/>
              </a:rPr>
              <a:t>bằng</a:t>
            </a:r>
            <a:r>
              <a:rPr lang="en-US" sz="1800" b="0" i="0" u="none" strike="noStrike" cap="none" dirty="0">
                <a:solidFill>
                  <a:srgbClr val="1E293B"/>
                </a:solidFill>
                <a:latin typeface="Inter"/>
                <a:ea typeface="Inter"/>
                <a:cs typeface="Inter"/>
                <a:sym typeface="Inter"/>
              </a:rPr>
              <a:t> Node.js.</a:t>
            </a:r>
            <a:endParaRPr sz="1800" dirty="0"/>
          </a:p>
        </p:txBody>
      </p:sp>
      <p:sp>
        <p:nvSpPr>
          <p:cNvPr id="346" name="Google Shape;346;p27"/>
          <p:cNvSpPr txBox="1"/>
          <p:nvPr/>
        </p:nvSpPr>
        <p:spPr>
          <a:xfrm>
            <a:off x="870881" y="4732071"/>
            <a:ext cx="8572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1E293B"/>
                </a:solidFill>
                <a:latin typeface="Inter"/>
                <a:ea typeface="Inter"/>
                <a:cs typeface="Inter"/>
                <a:sym typeface="Inter"/>
              </a:rPr>
              <a:t>•</a:t>
            </a:r>
            <a:endParaRPr dirty="0"/>
          </a:p>
        </p:txBody>
      </p:sp>
      <p:sp>
        <p:nvSpPr>
          <p:cNvPr id="347" name="Google Shape;347;p27"/>
          <p:cNvSpPr txBox="1"/>
          <p:nvPr/>
        </p:nvSpPr>
        <p:spPr>
          <a:xfrm>
            <a:off x="1047750" y="4229100"/>
            <a:ext cx="4857750" cy="276999"/>
          </a:xfrm>
          <a:prstGeom prst="rect">
            <a:avLst/>
          </a:prstGeom>
          <a:noFill/>
          <a:ln>
            <a:noFill/>
          </a:ln>
        </p:spPr>
        <p:txBody>
          <a:bodyPr spcFirstLastPara="1" wrap="square" lIns="85725"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Inter"/>
                <a:ea typeface="Inter"/>
                <a:cs typeface="Inter"/>
                <a:sym typeface="Inter"/>
              </a:rPr>
              <a:t>Data:</a:t>
            </a:r>
            <a:r>
              <a:rPr lang="en-US" sz="1800" b="0" i="0" u="none" strike="noStrike" cap="none">
                <a:solidFill>
                  <a:srgbClr val="1E293B"/>
                </a:solidFill>
                <a:latin typeface="Inter"/>
                <a:ea typeface="Inter"/>
                <a:cs typeface="Inter"/>
                <a:sym typeface="Inter"/>
              </a:rPr>
              <a:t> Lưu trữ tập trung qua MySQL Server.</a:t>
            </a:r>
            <a:endParaRPr sz="1800"/>
          </a:p>
        </p:txBody>
      </p:sp>
      <p:pic>
        <p:nvPicPr>
          <p:cNvPr id="2" name="Picture 1">
            <a:extLst>
              <a:ext uri="{FF2B5EF4-FFF2-40B4-BE49-F238E27FC236}">
                <a16:creationId xmlns:a16="http://schemas.microsoft.com/office/drawing/2014/main" id="{5BDFF851-26A3-E5EC-312A-AF34E889710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6586" b="29909"/>
          <a:stretch/>
        </p:blipFill>
        <p:spPr bwMode="auto">
          <a:xfrm>
            <a:off x="6286502" y="3119168"/>
            <a:ext cx="5293993" cy="1457864"/>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51"/>
        <p:cNvGrpSpPr/>
        <p:nvPr/>
      </p:nvGrpSpPr>
      <p:grpSpPr>
        <a:xfrm>
          <a:off x="0" y="0"/>
          <a:ext cx="0" cy="0"/>
          <a:chOff x="0" y="0"/>
          <a:chExt cx="0" cy="0"/>
        </a:xfrm>
      </p:grpSpPr>
      <p:pic>
        <p:nvPicPr>
          <p:cNvPr id="352" name="Google Shape;352;p28" descr="image.png"/>
          <p:cNvPicPr preferRelativeResize="0"/>
          <p:nvPr/>
        </p:nvPicPr>
        <p:blipFill rotWithShape="1">
          <a:blip r:embed="rId3">
            <a:alphaModFix/>
          </a:blip>
          <a:srcRect/>
          <a:stretch/>
        </p:blipFill>
        <p:spPr>
          <a:xfrm>
            <a:off x="0" y="-1"/>
            <a:ext cx="12192000" cy="6858000"/>
          </a:xfrm>
          <a:prstGeom prst="rect">
            <a:avLst/>
          </a:prstGeom>
          <a:noFill/>
          <a:ln>
            <a:noFill/>
          </a:ln>
        </p:spPr>
      </p:pic>
      <p:pic>
        <p:nvPicPr>
          <p:cNvPr id="353" name="Google Shape;353;p28" descr="image.png"/>
          <p:cNvPicPr preferRelativeResize="0"/>
          <p:nvPr/>
        </p:nvPicPr>
        <p:blipFill rotWithShape="1">
          <a:blip r:embed="rId4">
            <a:alphaModFix/>
          </a:blip>
          <a:srcRect/>
          <a:stretch/>
        </p:blipFill>
        <p:spPr>
          <a:xfrm>
            <a:off x="666750" y="3186112"/>
            <a:ext cx="2607468" cy="590550"/>
          </a:xfrm>
          <a:prstGeom prst="rect">
            <a:avLst/>
          </a:prstGeom>
          <a:noFill/>
          <a:ln>
            <a:noFill/>
          </a:ln>
        </p:spPr>
      </p:pic>
      <p:pic>
        <p:nvPicPr>
          <p:cNvPr id="354" name="Google Shape;354;p28" descr="image.png"/>
          <p:cNvPicPr preferRelativeResize="0"/>
          <p:nvPr/>
        </p:nvPicPr>
        <p:blipFill rotWithShape="1">
          <a:blip r:embed="rId5">
            <a:alphaModFix/>
          </a:blip>
          <a:srcRect/>
          <a:stretch/>
        </p:blipFill>
        <p:spPr>
          <a:xfrm>
            <a:off x="3417093" y="3186112"/>
            <a:ext cx="2607468" cy="590550"/>
          </a:xfrm>
          <a:prstGeom prst="rect">
            <a:avLst/>
          </a:prstGeom>
          <a:noFill/>
          <a:ln>
            <a:noFill/>
          </a:ln>
        </p:spPr>
      </p:pic>
      <p:pic>
        <p:nvPicPr>
          <p:cNvPr id="355" name="Google Shape;355;p28" descr="image.png"/>
          <p:cNvPicPr preferRelativeResize="0"/>
          <p:nvPr/>
        </p:nvPicPr>
        <p:blipFill rotWithShape="1">
          <a:blip r:embed="rId6">
            <a:alphaModFix/>
          </a:blip>
          <a:srcRect/>
          <a:stretch/>
        </p:blipFill>
        <p:spPr>
          <a:xfrm>
            <a:off x="6167437" y="3186112"/>
            <a:ext cx="2607468" cy="590550"/>
          </a:xfrm>
          <a:prstGeom prst="rect">
            <a:avLst/>
          </a:prstGeom>
          <a:noFill/>
          <a:ln>
            <a:noFill/>
          </a:ln>
        </p:spPr>
      </p:pic>
      <p:pic>
        <p:nvPicPr>
          <p:cNvPr id="356" name="Google Shape;356;p28" descr="image.png"/>
          <p:cNvPicPr preferRelativeResize="0"/>
          <p:nvPr/>
        </p:nvPicPr>
        <p:blipFill rotWithShape="1">
          <a:blip r:embed="rId4">
            <a:alphaModFix/>
          </a:blip>
          <a:srcRect/>
          <a:stretch/>
        </p:blipFill>
        <p:spPr>
          <a:xfrm>
            <a:off x="8917781" y="3186112"/>
            <a:ext cx="2607468" cy="590550"/>
          </a:xfrm>
          <a:prstGeom prst="rect">
            <a:avLst/>
          </a:prstGeom>
          <a:noFill/>
          <a:ln>
            <a:noFill/>
          </a:ln>
        </p:spPr>
      </p:pic>
      <p:pic>
        <p:nvPicPr>
          <p:cNvPr id="357" name="Google Shape;357;p28" descr="image.png"/>
          <p:cNvPicPr preferRelativeResize="0"/>
          <p:nvPr/>
        </p:nvPicPr>
        <p:blipFill rotWithShape="1">
          <a:blip r:embed="rId4">
            <a:alphaModFix/>
          </a:blip>
          <a:srcRect/>
          <a:stretch/>
        </p:blipFill>
        <p:spPr>
          <a:xfrm>
            <a:off x="666750" y="3919537"/>
            <a:ext cx="2607468" cy="590550"/>
          </a:xfrm>
          <a:prstGeom prst="rect">
            <a:avLst/>
          </a:prstGeom>
          <a:noFill/>
          <a:ln>
            <a:noFill/>
          </a:ln>
        </p:spPr>
      </p:pic>
      <p:pic>
        <p:nvPicPr>
          <p:cNvPr id="358" name="Google Shape;358;p28" descr="image.png"/>
          <p:cNvPicPr preferRelativeResize="0"/>
          <p:nvPr/>
        </p:nvPicPr>
        <p:blipFill rotWithShape="1">
          <a:blip r:embed="rId5">
            <a:alphaModFix/>
          </a:blip>
          <a:srcRect/>
          <a:stretch/>
        </p:blipFill>
        <p:spPr>
          <a:xfrm>
            <a:off x="3417093" y="3919537"/>
            <a:ext cx="2607468" cy="590550"/>
          </a:xfrm>
          <a:prstGeom prst="rect">
            <a:avLst/>
          </a:prstGeom>
          <a:noFill/>
          <a:ln>
            <a:noFill/>
          </a:ln>
        </p:spPr>
      </p:pic>
      <p:pic>
        <p:nvPicPr>
          <p:cNvPr id="359" name="Google Shape;359;p28" descr="image.png"/>
          <p:cNvPicPr preferRelativeResize="0"/>
          <p:nvPr/>
        </p:nvPicPr>
        <p:blipFill rotWithShape="1">
          <a:blip r:embed="rId6">
            <a:alphaModFix/>
          </a:blip>
          <a:srcRect/>
          <a:stretch/>
        </p:blipFill>
        <p:spPr>
          <a:xfrm>
            <a:off x="6167437" y="3919537"/>
            <a:ext cx="2607468" cy="590550"/>
          </a:xfrm>
          <a:prstGeom prst="rect">
            <a:avLst/>
          </a:prstGeom>
          <a:noFill/>
          <a:ln>
            <a:noFill/>
          </a:ln>
        </p:spPr>
      </p:pic>
      <p:pic>
        <p:nvPicPr>
          <p:cNvPr id="360" name="Google Shape;360;p28" descr="image.png"/>
          <p:cNvPicPr preferRelativeResize="0"/>
          <p:nvPr/>
        </p:nvPicPr>
        <p:blipFill rotWithShape="1">
          <a:blip r:embed="rId4">
            <a:alphaModFix/>
          </a:blip>
          <a:srcRect/>
          <a:stretch/>
        </p:blipFill>
        <p:spPr>
          <a:xfrm>
            <a:off x="8917781" y="3919537"/>
            <a:ext cx="2607468" cy="590550"/>
          </a:xfrm>
          <a:prstGeom prst="rect">
            <a:avLst/>
          </a:prstGeom>
          <a:noFill/>
          <a:ln>
            <a:noFill/>
          </a:ln>
        </p:spPr>
      </p:pic>
      <p:sp>
        <p:nvSpPr>
          <p:cNvPr id="361" name="Google Shape;361;p28"/>
          <p:cNvSpPr txBox="1"/>
          <p:nvPr/>
        </p:nvSpPr>
        <p:spPr>
          <a:xfrm>
            <a:off x="666750" y="485559"/>
            <a:ext cx="11401425" cy="438582"/>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850" b="1" i="0" u="none" strike="noStrike" cap="none">
                <a:solidFill>
                  <a:srgbClr val="003366"/>
                </a:solidFill>
                <a:latin typeface="Lexend"/>
                <a:ea typeface="Lexend"/>
                <a:cs typeface="Lexend"/>
                <a:sym typeface="Lexend"/>
              </a:rPr>
              <a:t>Thực thể trừu tượng chính</a:t>
            </a:r>
            <a:endParaRPr/>
          </a:p>
        </p:txBody>
      </p:sp>
      <p:sp>
        <p:nvSpPr>
          <p:cNvPr id="362" name="Google Shape;362;p28"/>
          <p:cNvSpPr/>
          <p:nvPr/>
        </p:nvSpPr>
        <p:spPr>
          <a:xfrm>
            <a:off x="666750" y="933450"/>
            <a:ext cx="59626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4" name="Google Shape;364;p28"/>
          <p:cNvSpPr txBox="1"/>
          <p:nvPr/>
        </p:nvSpPr>
        <p:spPr>
          <a:xfrm>
            <a:off x="1656159" y="3386137"/>
            <a:ext cx="62865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1E293B"/>
                </a:solidFill>
                <a:latin typeface="Inter"/>
                <a:ea typeface="Inter"/>
                <a:cs typeface="Inter"/>
                <a:sym typeface="Inter"/>
              </a:rPr>
              <a:t>Dòng họ</a:t>
            </a:r>
            <a:endParaRPr/>
          </a:p>
        </p:txBody>
      </p:sp>
      <p:sp>
        <p:nvSpPr>
          <p:cNvPr id="366" name="Google Shape;366;p28"/>
          <p:cNvSpPr txBox="1"/>
          <p:nvPr/>
        </p:nvSpPr>
        <p:spPr>
          <a:xfrm>
            <a:off x="3940969" y="3386137"/>
            <a:ext cx="1683454"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1E293B"/>
                </a:solidFill>
                <a:latin typeface="Inter"/>
                <a:ea typeface="Inter"/>
                <a:cs typeface="Inter"/>
                <a:sym typeface="Inter"/>
              </a:rPr>
              <a:t>Thành </a:t>
            </a:r>
            <a:r>
              <a:rPr lang="en-US" sz="1200" b="1" dirty="0" err="1">
                <a:solidFill>
                  <a:srgbClr val="1E293B"/>
                </a:solidFill>
                <a:latin typeface="Inter"/>
                <a:ea typeface="Inter"/>
                <a:cs typeface="Inter"/>
                <a:sym typeface="Inter"/>
              </a:rPr>
              <a:t>viên</a:t>
            </a:r>
            <a:endParaRPr dirty="0"/>
          </a:p>
        </p:txBody>
      </p:sp>
      <p:sp>
        <p:nvSpPr>
          <p:cNvPr id="368" name="Google Shape;368;p28"/>
          <p:cNvSpPr txBox="1"/>
          <p:nvPr/>
        </p:nvSpPr>
        <p:spPr>
          <a:xfrm>
            <a:off x="6629400" y="3386137"/>
            <a:ext cx="162163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1E293B"/>
                </a:solidFill>
                <a:latin typeface="Inter"/>
                <a:ea typeface="Inter"/>
                <a:cs typeface="Inter"/>
                <a:sym typeface="Inter"/>
              </a:rPr>
              <a:t>Quan </a:t>
            </a:r>
            <a:r>
              <a:rPr lang="en-US" sz="1200" b="1" i="0" u="none" strike="noStrike" cap="none" dirty="0" err="1">
                <a:solidFill>
                  <a:srgbClr val="1E293B"/>
                </a:solidFill>
                <a:latin typeface="Inter"/>
                <a:ea typeface="Inter"/>
                <a:cs typeface="Inter"/>
                <a:sym typeface="Inter"/>
              </a:rPr>
              <a:t>hệ</a:t>
            </a:r>
            <a:endParaRPr dirty="0"/>
          </a:p>
        </p:txBody>
      </p:sp>
      <p:sp>
        <p:nvSpPr>
          <p:cNvPr id="370" name="Google Shape;370;p28"/>
          <p:cNvSpPr txBox="1"/>
          <p:nvPr/>
        </p:nvSpPr>
        <p:spPr>
          <a:xfrm>
            <a:off x="9316528" y="3428999"/>
            <a:ext cx="1940944"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1E293B"/>
                </a:solidFill>
                <a:latin typeface="Inter"/>
                <a:ea typeface="Inter"/>
                <a:cs typeface="Inter"/>
                <a:sym typeface="Inter"/>
              </a:rPr>
              <a:t>Tài </a:t>
            </a:r>
            <a:r>
              <a:rPr lang="en-US" sz="1200" b="1" i="0" u="none" strike="noStrike" cap="none" dirty="0" err="1">
                <a:solidFill>
                  <a:srgbClr val="1E293B"/>
                </a:solidFill>
                <a:latin typeface="Inter"/>
                <a:ea typeface="Inter"/>
                <a:cs typeface="Inter"/>
                <a:sym typeface="Inter"/>
              </a:rPr>
              <a:t>khoản</a:t>
            </a:r>
            <a:endParaRPr dirty="0"/>
          </a:p>
        </p:txBody>
      </p:sp>
      <p:sp>
        <p:nvSpPr>
          <p:cNvPr id="372" name="Google Shape;372;p28"/>
          <p:cNvSpPr txBox="1"/>
          <p:nvPr/>
        </p:nvSpPr>
        <p:spPr>
          <a:xfrm>
            <a:off x="1328467" y="4119561"/>
            <a:ext cx="1259457"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err="1">
                <a:solidFill>
                  <a:srgbClr val="1E293B"/>
                </a:solidFill>
                <a:latin typeface="Inter"/>
                <a:ea typeface="Inter"/>
                <a:cs typeface="Inter"/>
                <a:sym typeface="Inter"/>
              </a:rPr>
              <a:t>Sự</a:t>
            </a:r>
            <a:r>
              <a:rPr lang="en-US" sz="1200" b="1" i="0" u="none" strike="noStrike" cap="none" dirty="0">
                <a:solidFill>
                  <a:srgbClr val="1E293B"/>
                </a:solidFill>
                <a:latin typeface="Inter"/>
                <a:ea typeface="Inter"/>
                <a:cs typeface="Inter"/>
                <a:sym typeface="Inter"/>
              </a:rPr>
              <a:t> </a:t>
            </a:r>
            <a:r>
              <a:rPr lang="en-US" sz="1200" b="1" i="0" u="none" strike="noStrike" cap="none" dirty="0" err="1">
                <a:solidFill>
                  <a:srgbClr val="1E293B"/>
                </a:solidFill>
                <a:latin typeface="Inter"/>
                <a:ea typeface="Inter"/>
                <a:cs typeface="Inter"/>
                <a:sym typeface="Inter"/>
              </a:rPr>
              <a:t>kiện</a:t>
            </a:r>
            <a:endParaRPr dirty="0"/>
          </a:p>
        </p:txBody>
      </p:sp>
      <p:sp>
        <p:nvSpPr>
          <p:cNvPr id="374" name="Google Shape;374;p28"/>
          <p:cNvSpPr txBox="1"/>
          <p:nvPr/>
        </p:nvSpPr>
        <p:spPr>
          <a:xfrm>
            <a:off x="3935935" y="4119560"/>
            <a:ext cx="1688487" cy="18466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1E293B"/>
                </a:solidFill>
                <a:latin typeface="Inter"/>
                <a:ea typeface="Inter"/>
                <a:cs typeface="Inter"/>
                <a:sym typeface="Inter"/>
              </a:rPr>
              <a:t>Phản </a:t>
            </a:r>
            <a:r>
              <a:rPr lang="en-US" sz="1200" b="1" i="0" u="none" strike="noStrike" cap="none" dirty="0" err="1">
                <a:solidFill>
                  <a:srgbClr val="1E293B"/>
                </a:solidFill>
                <a:latin typeface="Inter"/>
                <a:ea typeface="Inter"/>
                <a:cs typeface="Inter"/>
                <a:sym typeface="Inter"/>
              </a:rPr>
              <a:t>hồi</a:t>
            </a:r>
            <a:endParaRPr dirty="0"/>
          </a:p>
        </p:txBody>
      </p:sp>
      <p:sp>
        <p:nvSpPr>
          <p:cNvPr id="376" name="Google Shape;376;p28"/>
          <p:cNvSpPr txBox="1"/>
          <p:nvPr/>
        </p:nvSpPr>
        <p:spPr>
          <a:xfrm>
            <a:off x="6705014" y="4119560"/>
            <a:ext cx="1546015"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1E293B"/>
                </a:solidFill>
                <a:latin typeface="Inter"/>
                <a:ea typeface="Inter"/>
                <a:cs typeface="Inter"/>
                <a:sym typeface="Inter"/>
              </a:rPr>
              <a:t>Giao </a:t>
            </a:r>
            <a:r>
              <a:rPr lang="en-US" sz="1200" b="1" i="0" u="none" strike="noStrike" cap="none" dirty="0" err="1">
                <a:solidFill>
                  <a:srgbClr val="1E293B"/>
                </a:solidFill>
                <a:latin typeface="Inter"/>
                <a:ea typeface="Inter"/>
                <a:cs typeface="Inter"/>
                <a:sym typeface="Inter"/>
              </a:rPr>
              <a:t>dịch</a:t>
            </a:r>
            <a:endParaRPr dirty="0"/>
          </a:p>
        </p:txBody>
      </p:sp>
      <p:sp>
        <p:nvSpPr>
          <p:cNvPr id="378" name="Google Shape;378;p28"/>
          <p:cNvSpPr txBox="1"/>
          <p:nvPr/>
        </p:nvSpPr>
        <p:spPr>
          <a:xfrm>
            <a:off x="9747849" y="4119560"/>
            <a:ext cx="1115684"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1E293B"/>
                </a:solidFill>
                <a:latin typeface="Inter"/>
                <a:ea typeface="Inter"/>
                <a:cs typeface="Inter"/>
                <a:sym typeface="Inter"/>
              </a:rPr>
              <a:t>Danh </a:t>
            </a:r>
            <a:r>
              <a:rPr lang="en-US" sz="1200" b="1" i="0" u="none" strike="noStrike" cap="none" dirty="0" err="1">
                <a:solidFill>
                  <a:srgbClr val="1E293B"/>
                </a:solidFill>
                <a:latin typeface="Inter"/>
                <a:ea typeface="Inter"/>
                <a:cs typeface="Inter"/>
                <a:sym typeface="Inter"/>
              </a:rPr>
              <a:t>mục</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Shape 409"/>
        <p:cNvGrpSpPr/>
        <p:nvPr/>
      </p:nvGrpSpPr>
      <p:grpSpPr>
        <a:xfrm>
          <a:off x="0" y="0"/>
          <a:ext cx="0" cy="0"/>
          <a:chOff x="0" y="0"/>
          <a:chExt cx="0" cy="0"/>
        </a:xfrm>
      </p:grpSpPr>
      <p:pic>
        <p:nvPicPr>
          <p:cNvPr id="410" name="Google Shape;410;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11" name="Google Shape;411;p32" descr="image.png"/>
          <p:cNvPicPr preferRelativeResize="0"/>
          <p:nvPr/>
        </p:nvPicPr>
        <p:blipFill rotWithShape="1">
          <a:blip r:embed="rId4">
            <a:alphaModFix/>
          </a:blip>
          <a:srcRect/>
          <a:stretch/>
        </p:blipFill>
        <p:spPr>
          <a:xfrm>
            <a:off x="3238500" y="1742330"/>
            <a:ext cx="5715000" cy="4639419"/>
          </a:xfrm>
          <a:prstGeom prst="rect">
            <a:avLst/>
          </a:prstGeom>
          <a:noFill/>
          <a:ln>
            <a:noFill/>
          </a:ln>
        </p:spPr>
      </p:pic>
      <p:sp>
        <p:nvSpPr>
          <p:cNvPr id="412" name="Google Shape;412;p32"/>
          <p:cNvSpPr txBox="1"/>
          <p:nvPr/>
        </p:nvSpPr>
        <p:spPr>
          <a:xfrm>
            <a:off x="2570559" y="476250"/>
            <a:ext cx="7050881" cy="657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125" b="1" i="0" u="none" strike="noStrike" cap="none">
                <a:solidFill>
                  <a:srgbClr val="FFFFFF"/>
                </a:solidFill>
                <a:latin typeface="Lexend"/>
                <a:ea typeface="Lexend"/>
                <a:cs typeface="Lexend"/>
                <a:sym typeface="Lexend"/>
              </a:rPr>
              <a:t>3. THIẾT KẾ HỆ THỐNG</a:t>
            </a:r>
            <a:endParaRPr/>
          </a:p>
        </p:txBody>
      </p:sp>
      <p:sp>
        <p:nvSpPr>
          <p:cNvPr id="413" name="Google Shape;413;p32"/>
          <p:cNvSpPr/>
          <p:nvPr/>
        </p:nvSpPr>
        <p:spPr>
          <a:xfrm>
            <a:off x="5619750" y="1419225"/>
            <a:ext cx="952500" cy="37355"/>
          </a:xfrm>
          <a:prstGeom prst="rect">
            <a:avLst/>
          </a:prstGeom>
          <a:solidFill>
            <a:srgbClr val="FF82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33B19D6A-6436-62E7-435D-3321E6AE27FD}"/>
              </a:ext>
            </a:extLst>
          </p:cNvPr>
          <p:cNvPicPr>
            <a:picLocks noChangeAspect="1"/>
          </p:cNvPicPr>
          <p:nvPr/>
        </p:nvPicPr>
        <p:blipFill>
          <a:blip r:embed="rId5"/>
          <a:stretch>
            <a:fillRect/>
          </a:stretch>
        </p:blipFill>
        <p:spPr>
          <a:xfrm>
            <a:off x="3238500" y="1779685"/>
            <a:ext cx="5715000" cy="46020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17"/>
        <p:cNvGrpSpPr/>
        <p:nvPr/>
      </p:nvGrpSpPr>
      <p:grpSpPr>
        <a:xfrm>
          <a:off x="0" y="0"/>
          <a:ext cx="0" cy="0"/>
          <a:chOff x="0" y="0"/>
          <a:chExt cx="0" cy="0"/>
        </a:xfrm>
      </p:grpSpPr>
      <p:pic>
        <p:nvPicPr>
          <p:cNvPr id="418" name="Google Shape;418;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19" name="Google Shape;419;p33"/>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Lược đồ Cơ sở dữ liệu (ERD)</a:t>
            </a:r>
            <a:endParaRPr/>
          </a:p>
        </p:txBody>
      </p:sp>
      <p:sp>
        <p:nvSpPr>
          <p:cNvPr id="420" name="Google Shape;420;p33"/>
          <p:cNvSpPr/>
          <p:nvPr/>
        </p:nvSpPr>
        <p:spPr>
          <a:xfrm>
            <a:off x="666750" y="933450"/>
            <a:ext cx="56197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D707A4B3-BB30-407B-2FB8-1C5C0E0C9305}"/>
              </a:ext>
            </a:extLst>
          </p:cNvPr>
          <p:cNvPicPr>
            <a:picLocks noChangeAspect="1"/>
          </p:cNvPicPr>
          <p:nvPr/>
        </p:nvPicPr>
        <p:blipFill>
          <a:blip r:embed="rId4"/>
          <a:stretch>
            <a:fillRect/>
          </a:stretch>
        </p:blipFill>
        <p:spPr>
          <a:xfrm>
            <a:off x="408497" y="933450"/>
            <a:ext cx="11116753" cy="59150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26"/>
        <p:cNvGrpSpPr/>
        <p:nvPr/>
      </p:nvGrpSpPr>
      <p:grpSpPr>
        <a:xfrm>
          <a:off x="0" y="0"/>
          <a:ext cx="0" cy="0"/>
          <a:chOff x="0" y="0"/>
          <a:chExt cx="0" cy="0"/>
        </a:xfrm>
      </p:grpSpPr>
      <p:pic>
        <p:nvPicPr>
          <p:cNvPr id="427" name="Google Shape;427;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28" name="Google Shape;428;p34"/>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Các bảng dữ liệu trọng tâm</a:t>
            </a:r>
            <a:endParaRPr/>
          </a:p>
        </p:txBody>
      </p:sp>
      <p:sp>
        <p:nvSpPr>
          <p:cNvPr id="429" name="Google Shape;429;p34"/>
          <p:cNvSpPr/>
          <p:nvPr/>
        </p:nvSpPr>
        <p:spPr>
          <a:xfrm>
            <a:off x="666750" y="933450"/>
            <a:ext cx="56483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430" name="Google Shape;430;p34"/>
          <p:cNvGraphicFramePr/>
          <p:nvPr>
            <p:extLst>
              <p:ext uri="{D42A27DB-BD31-4B8C-83A1-F6EECF244321}">
                <p14:modId xmlns:p14="http://schemas.microsoft.com/office/powerpoint/2010/main" val="89784902"/>
              </p:ext>
            </p:extLst>
          </p:nvPr>
        </p:nvGraphicFramePr>
        <p:xfrm>
          <a:off x="666750" y="2490787"/>
          <a:ext cx="10839450" cy="3257550"/>
        </p:xfrm>
        <a:graphic>
          <a:graphicData uri="http://schemas.openxmlformats.org/drawingml/2006/table">
            <a:tbl>
              <a:tblPr firstRow="1" bandRow="1">
                <a:noFill/>
                <a:tableStyleId>{89804699-30EC-4902-8FF0-153928EC6EE9}</a:tableStyleId>
              </a:tblPr>
              <a:tblGrid>
                <a:gridCol w="2758225">
                  <a:extLst>
                    <a:ext uri="{9D8B030D-6E8A-4147-A177-3AD203B41FA5}">
                      <a16:colId xmlns:a16="http://schemas.microsoft.com/office/drawing/2014/main" val="20000"/>
                    </a:ext>
                  </a:extLst>
                </a:gridCol>
                <a:gridCol w="8081225">
                  <a:extLst>
                    <a:ext uri="{9D8B030D-6E8A-4147-A177-3AD203B41FA5}">
                      <a16:colId xmlns:a16="http://schemas.microsoft.com/office/drawing/2014/main" val="20001"/>
                    </a:ext>
                  </a:extLst>
                </a:gridCol>
              </a:tblGrid>
              <a:tr h="542925">
                <a:tc>
                  <a:txBody>
                    <a:bodyPr/>
                    <a:lstStyle/>
                    <a:p>
                      <a:pPr marL="0" marR="0" lvl="0" indent="0" algn="l" rtl="0">
                        <a:spcBef>
                          <a:spcPts val="0"/>
                        </a:spcBef>
                        <a:spcAft>
                          <a:spcPts val="0"/>
                        </a:spcAft>
                        <a:buNone/>
                      </a:pPr>
                      <a:r>
                        <a:rPr lang="en-US" sz="1350" b="0" i="0" u="none" strike="noStrike" cap="none" dirty="0" err="1">
                          <a:solidFill>
                            <a:srgbClr val="FFFFFF"/>
                          </a:solidFill>
                          <a:latin typeface="Inter" panose="020B0604020202020204" charset="0"/>
                          <a:ea typeface="Inter" panose="020B0604020202020204" charset="0"/>
                          <a:cs typeface="Lexend Medium"/>
                          <a:sym typeface="Lexend Medium"/>
                        </a:rPr>
                        <a:t>Bảng</a:t>
                      </a:r>
                      <a:endParaRPr dirty="0">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350" b="0" i="0" u="none" strike="noStrike" cap="none" dirty="0" err="1">
                          <a:solidFill>
                            <a:srgbClr val="FFFFFF"/>
                          </a:solidFill>
                          <a:latin typeface="Inter" panose="020B0604020202020204" charset="0"/>
                          <a:ea typeface="Inter" panose="020B0604020202020204" charset="0"/>
                          <a:cs typeface="Lexend Medium"/>
                          <a:sym typeface="Lexend Medium"/>
                        </a:rPr>
                        <a:t>Nhiệm</a:t>
                      </a:r>
                      <a:r>
                        <a:rPr lang="en-US" sz="1350" b="0" i="0" u="none" strike="noStrike" cap="none" dirty="0">
                          <a:solidFill>
                            <a:srgbClr val="FFFFFF"/>
                          </a:solidFill>
                          <a:latin typeface="Inter" panose="020B0604020202020204" charset="0"/>
                          <a:ea typeface="Inter" panose="020B0604020202020204" charset="0"/>
                          <a:cs typeface="Lexend Medium"/>
                          <a:sym typeface="Lexend Medium"/>
                        </a:rPr>
                        <a:t> </a:t>
                      </a:r>
                      <a:r>
                        <a:rPr lang="en-US" sz="1350" b="0" i="0" u="none" strike="noStrike" cap="none" dirty="0" err="1">
                          <a:solidFill>
                            <a:srgbClr val="FFFFFF"/>
                          </a:solidFill>
                          <a:latin typeface="Inter" panose="020B0604020202020204" charset="0"/>
                          <a:ea typeface="Inter" panose="020B0604020202020204" charset="0"/>
                          <a:cs typeface="Lexend Medium"/>
                          <a:sym typeface="Lexend Medium"/>
                        </a:rPr>
                        <a:t>vụ</a:t>
                      </a:r>
                      <a:r>
                        <a:rPr lang="en-US" sz="1350" b="0" i="0" u="none" strike="noStrike" cap="none" dirty="0">
                          <a:solidFill>
                            <a:srgbClr val="FFFFFF"/>
                          </a:solidFill>
                          <a:latin typeface="Inter" panose="020B0604020202020204" charset="0"/>
                          <a:ea typeface="Inter" panose="020B0604020202020204" charset="0"/>
                          <a:cs typeface="Lexend Medium"/>
                          <a:sym typeface="Lexend Medium"/>
                        </a:rPr>
                        <a:t> </a:t>
                      </a:r>
                      <a:r>
                        <a:rPr lang="en-US" sz="1350" b="0" i="0" u="none" strike="noStrike" cap="none" dirty="0" err="1">
                          <a:solidFill>
                            <a:srgbClr val="FFFFFF"/>
                          </a:solidFill>
                          <a:latin typeface="Inter" panose="020B0604020202020204" charset="0"/>
                          <a:ea typeface="Inter" panose="020B0604020202020204" charset="0"/>
                          <a:cs typeface="Lexend Medium"/>
                          <a:sym typeface="Lexend Medium"/>
                        </a:rPr>
                        <a:t>lưu</a:t>
                      </a:r>
                      <a:r>
                        <a:rPr lang="en-US" sz="1350" b="0" i="0" u="none" strike="noStrike" cap="none" dirty="0">
                          <a:solidFill>
                            <a:srgbClr val="FFFFFF"/>
                          </a:solidFill>
                          <a:latin typeface="Inter" panose="020B0604020202020204" charset="0"/>
                          <a:ea typeface="Inter" panose="020B0604020202020204" charset="0"/>
                          <a:cs typeface="Lexend Medium"/>
                          <a:sym typeface="Lexend Medium"/>
                        </a:rPr>
                        <a:t> </a:t>
                      </a:r>
                      <a:r>
                        <a:rPr lang="en-US" sz="1350" b="0" i="0" u="none" strike="noStrike" cap="none" dirty="0" err="1">
                          <a:solidFill>
                            <a:srgbClr val="FFFFFF"/>
                          </a:solidFill>
                          <a:latin typeface="Inter" panose="020B0604020202020204" charset="0"/>
                          <a:ea typeface="Inter" panose="020B0604020202020204" charset="0"/>
                          <a:cs typeface="Lexend Medium"/>
                          <a:sym typeface="Lexend Medium"/>
                        </a:rPr>
                        <a:t>trữ</a:t>
                      </a:r>
                      <a:endParaRPr dirty="0">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extLst>
                  <a:ext uri="{0D108BD9-81ED-4DB2-BD59-A6C34878D82A}">
                    <a16:rowId xmlns:a16="http://schemas.microsoft.com/office/drawing/2014/main" val="10000"/>
                  </a:ext>
                </a:extLst>
              </a:tr>
              <a:tr h="542925">
                <a:tc>
                  <a:txBody>
                    <a:bodyPr/>
                    <a:lstStyle/>
                    <a:p>
                      <a:pPr marL="0" marR="0" lvl="0" indent="0" algn="l" rtl="0">
                        <a:spcBef>
                          <a:spcPts val="0"/>
                        </a:spcBef>
                        <a:spcAft>
                          <a:spcPts val="0"/>
                        </a:spcAft>
                        <a:buNone/>
                      </a:pPr>
                      <a:r>
                        <a:rPr lang="en-US" sz="1425" b="1" i="0" u="none" strike="noStrike" cap="none">
                          <a:solidFill>
                            <a:srgbClr val="1E293B"/>
                          </a:solidFill>
                          <a:latin typeface="Inter" panose="020B0604020202020204" charset="0"/>
                          <a:ea typeface="Inter" panose="020B0604020202020204" charset="0"/>
                          <a:cs typeface="Inter"/>
                          <a:sym typeface="Inter"/>
                        </a:rPr>
                        <a:t>tbl_accounts</a:t>
                      </a:r>
                      <a:endParaRPr>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dirty="0">
                          <a:solidFill>
                            <a:schemeClr val="tx1"/>
                          </a:solidFill>
                          <a:latin typeface="Inter" panose="020B0604020202020204" charset="0"/>
                          <a:ea typeface="Inter" panose="020B0604020202020204" charset="0"/>
                          <a:cs typeface="Inter"/>
                          <a:sym typeface="Inter"/>
                        </a:rPr>
                        <a:t>Thông tin </a:t>
                      </a:r>
                      <a:r>
                        <a:rPr lang="en-US" sz="1425" b="0" i="0" u="none" strike="noStrike" cap="none" dirty="0" err="1">
                          <a:solidFill>
                            <a:schemeClr val="tx1"/>
                          </a:solidFill>
                          <a:latin typeface="Inter" panose="020B0604020202020204" charset="0"/>
                          <a:ea typeface="Inter" panose="020B0604020202020204" charset="0"/>
                          <a:cs typeface="Inter"/>
                          <a:sym typeface="Inter"/>
                        </a:rPr>
                        <a:t>định</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danh</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mật</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khẩu</a:t>
                      </a:r>
                      <a:r>
                        <a:rPr lang="en-US" sz="1425" b="0" i="0" u="none" strike="noStrike" cap="none" dirty="0">
                          <a:solidFill>
                            <a:schemeClr val="tx1"/>
                          </a:solidFill>
                          <a:latin typeface="Inter" panose="020B0604020202020204" charset="0"/>
                          <a:ea typeface="Inter" panose="020B0604020202020204" charset="0"/>
                          <a:cs typeface="Inter"/>
                          <a:sym typeface="Inter"/>
                        </a:rPr>
                        <a:t> hash, </a:t>
                      </a:r>
                      <a:r>
                        <a:rPr lang="en-US" sz="1425" b="0" i="0" u="none" strike="noStrike" cap="none" dirty="0" err="1">
                          <a:solidFill>
                            <a:schemeClr val="tx1"/>
                          </a:solidFill>
                          <a:latin typeface="Inter" panose="020B0604020202020204" charset="0"/>
                          <a:ea typeface="Inter" panose="020B0604020202020204" charset="0"/>
                          <a:cs typeface="Inter"/>
                          <a:sym typeface="Inter"/>
                        </a:rPr>
                        <a:t>vai</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trò</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và</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trạng</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thái</a:t>
                      </a:r>
                      <a:r>
                        <a:rPr lang="en-US" sz="1425" b="0" i="0" u="none" strike="noStrike" cap="none" dirty="0">
                          <a:solidFill>
                            <a:schemeClr val="tx1"/>
                          </a:solidFill>
                          <a:latin typeface="Inter" panose="020B0604020202020204" charset="0"/>
                          <a:ea typeface="Inter" panose="020B0604020202020204" charset="0"/>
                          <a:cs typeface="Inter"/>
                          <a:sym typeface="Inter"/>
                        </a:rPr>
                        <a:t>.</a:t>
                      </a:r>
                      <a:endParaRPr dirty="0">
                        <a:solidFill>
                          <a:schemeClr val="tx1"/>
                        </a:solidFill>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42925">
                <a:tc>
                  <a:txBody>
                    <a:bodyPr/>
                    <a:lstStyle/>
                    <a:p>
                      <a:pPr marL="0" marR="0" lvl="0" indent="0" algn="l" rtl="0">
                        <a:spcBef>
                          <a:spcPts val="0"/>
                        </a:spcBef>
                        <a:spcAft>
                          <a:spcPts val="0"/>
                        </a:spcAft>
                        <a:buNone/>
                      </a:pPr>
                      <a:r>
                        <a:rPr lang="en-US" sz="1425" b="1" i="0" u="none" strike="noStrike" cap="none">
                          <a:solidFill>
                            <a:srgbClr val="1E293B"/>
                          </a:solidFill>
                          <a:latin typeface="Inter" panose="020B0604020202020204" charset="0"/>
                          <a:ea typeface="Inter" panose="020B0604020202020204" charset="0"/>
                          <a:cs typeface="Inter"/>
                          <a:sym typeface="Inter"/>
                        </a:rPr>
                        <a:t>tbl_members</a:t>
                      </a:r>
                      <a:endParaRPr>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dirty="0" err="1">
                          <a:solidFill>
                            <a:schemeClr val="tx1"/>
                          </a:solidFill>
                          <a:latin typeface="Inter" panose="020B0604020202020204" charset="0"/>
                          <a:ea typeface="Inter" panose="020B0604020202020204" charset="0"/>
                          <a:cs typeface="Inter"/>
                          <a:sym typeface="Inter"/>
                        </a:rPr>
                        <a:t>Dữ</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liệu</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nhân</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khẩu</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ngày</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sinh</a:t>
                      </a:r>
                      <a:r>
                        <a:rPr lang="en-US" sz="1425" b="0" i="0" u="none" strike="noStrike" cap="none" dirty="0">
                          <a:solidFill>
                            <a:schemeClr val="tx1"/>
                          </a:solidFill>
                          <a:latin typeface="Inter" panose="020B0604020202020204" charset="0"/>
                          <a:ea typeface="Inter" panose="020B0604020202020204" charset="0"/>
                          <a:cs typeface="Inter"/>
                          <a:sym typeface="Inter"/>
                        </a:rPr>
                        <a:t>/</a:t>
                      </a:r>
                      <a:r>
                        <a:rPr lang="en-US" sz="1425" b="0" i="0" u="none" strike="noStrike" cap="none" dirty="0" err="1">
                          <a:solidFill>
                            <a:schemeClr val="tx1"/>
                          </a:solidFill>
                          <a:latin typeface="Inter" panose="020B0604020202020204" charset="0"/>
                          <a:ea typeface="Inter" panose="020B0604020202020204" charset="0"/>
                          <a:cs typeface="Inter"/>
                          <a:sym typeface="Inter"/>
                        </a:rPr>
                        <a:t>mất</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và</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khóa</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ngoại</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phả</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hệ</a:t>
                      </a:r>
                      <a:r>
                        <a:rPr lang="en-US" sz="1425" b="0" i="0" u="none" strike="noStrike" cap="none" dirty="0">
                          <a:solidFill>
                            <a:schemeClr val="tx1"/>
                          </a:solidFill>
                          <a:latin typeface="Inter" panose="020B0604020202020204" charset="0"/>
                          <a:ea typeface="Inter" panose="020B0604020202020204" charset="0"/>
                          <a:cs typeface="Inter"/>
                          <a:sym typeface="Inter"/>
                        </a:rPr>
                        <a:t>.</a:t>
                      </a:r>
                      <a:endParaRPr dirty="0">
                        <a:solidFill>
                          <a:schemeClr val="tx1"/>
                        </a:solidFill>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42925">
                <a:tc>
                  <a:txBody>
                    <a:bodyPr/>
                    <a:lstStyle/>
                    <a:p>
                      <a:pPr marL="0" marR="0" lvl="0" indent="0" algn="l" rtl="0">
                        <a:spcBef>
                          <a:spcPts val="0"/>
                        </a:spcBef>
                        <a:spcAft>
                          <a:spcPts val="0"/>
                        </a:spcAft>
                        <a:buNone/>
                      </a:pPr>
                      <a:r>
                        <a:rPr lang="en-US" sz="1425" b="1" i="0" u="none" strike="noStrike" cap="none" dirty="0" err="1">
                          <a:solidFill>
                            <a:srgbClr val="1E293B"/>
                          </a:solidFill>
                          <a:latin typeface="Inter" panose="020B0604020202020204" charset="0"/>
                          <a:ea typeface="Inter" panose="020B0604020202020204" charset="0"/>
                          <a:cs typeface="Inter"/>
                          <a:sym typeface="Inter"/>
                        </a:rPr>
                        <a:t>tbl_events</a:t>
                      </a:r>
                      <a:endParaRPr dirty="0">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dirty="0" err="1">
                          <a:solidFill>
                            <a:schemeClr val="tx1"/>
                          </a:solidFill>
                          <a:latin typeface="Inter" panose="020B0604020202020204" charset="0"/>
                          <a:ea typeface="Inter" panose="020B0604020202020204" charset="0"/>
                          <a:cs typeface="Inter"/>
                          <a:sym typeface="Inter"/>
                        </a:rPr>
                        <a:t>Lịch</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trình</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địa</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điểm</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và</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nội</a:t>
                      </a:r>
                      <a:r>
                        <a:rPr lang="en-US" sz="1425" b="0" i="0" u="none" strike="noStrike" cap="none" dirty="0">
                          <a:solidFill>
                            <a:schemeClr val="tx1"/>
                          </a:solidFill>
                          <a:latin typeface="Inter" panose="020B0604020202020204" charset="0"/>
                          <a:ea typeface="Inter" panose="020B0604020202020204" charset="0"/>
                          <a:cs typeface="Inter"/>
                          <a:sym typeface="Inter"/>
                        </a:rPr>
                        <a:t> dung </a:t>
                      </a:r>
                      <a:r>
                        <a:rPr lang="en-US" sz="1425" b="0" i="0" u="none" strike="noStrike" cap="none" dirty="0" err="1">
                          <a:solidFill>
                            <a:schemeClr val="tx1"/>
                          </a:solidFill>
                          <a:latin typeface="Inter" panose="020B0604020202020204" charset="0"/>
                          <a:ea typeface="Inter" panose="020B0604020202020204" charset="0"/>
                          <a:cs typeface="Inter"/>
                          <a:sym typeface="Inter"/>
                        </a:rPr>
                        <a:t>sự</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kiện</a:t>
                      </a:r>
                      <a:r>
                        <a:rPr lang="en-US" sz="1425" b="0" i="0" u="none" strike="noStrike" cap="none" dirty="0">
                          <a:solidFill>
                            <a:schemeClr val="tx1"/>
                          </a:solidFill>
                          <a:latin typeface="Inter" panose="020B0604020202020204" charset="0"/>
                          <a:ea typeface="Inter" panose="020B0604020202020204" charset="0"/>
                          <a:cs typeface="Inter"/>
                          <a:sym typeface="Inter"/>
                        </a:rPr>
                        <a:t>/</a:t>
                      </a:r>
                      <a:r>
                        <a:rPr lang="en-US" sz="1425" b="0" i="0" u="none" strike="noStrike" cap="none" dirty="0" err="1">
                          <a:solidFill>
                            <a:schemeClr val="tx1"/>
                          </a:solidFill>
                          <a:latin typeface="Inter" panose="020B0604020202020204" charset="0"/>
                          <a:ea typeface="Inter" panose="020B0604020202020204" charset="0"/>
                          <a:cs typeface="Inter"/>
                          <a:sym typeface="Inter"/>
                        </a:rPr>
                        <a:t>giỗ</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chạp</a:t>
                      </a:r>
                      <a:r>
                        <a:rPr lang="en-US" sz="1425" b="0" i="0" u="none" strike="noStrike" cap="none" dirty="0">
                          <a:solidFill>
                            <a:schemeClr val="tx1"/>
                          </a:solidFill>
                          <a:latin typeface="Inter" panose="020B0604020202020204" charset="0"/>
                          <a:ea typeface="Inter" panose="020B0604020202020204" charset="0"/>
                          <a:cs typeface="Inter"/>
                          <a:sym typeface="Inter"/>
                        </a:rPr>
                        <a:t>.</a:t>
                      </a:r>
                      <a:endParaRPr dirty="0">
                        <a:solidFill>
                          <a:schemeClr val="tx1"/>
                        </a:solidFill>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42925">
                <a:tc>
                  <a:txBody>
                    <a:bodyPr/>
                    <a:lstStyle/>
                    <a:p>
                      <a:pPr marL="0" marR="0" lvl="0" indent="0" algn="l" rtl="0">
                        <a:spcBef>
                          <a:spcPts val="0"/>
                        </a:spcBef>
                        <a:spcAft>
                          <a:spcPts val="0"/>
                        </a:spcAft>
                        <a:buNone/>
                      </a:pPr>
                      <a:r>
                        <a:rPr lang="en-US" sz="1425" b="1" i="0" u="none" strike="noStrike" cap="none" dirty="0" err="1">
                          <a:solidFill>
                            <a:srgbClr val="1E293B"/>
                          </a:solidFill>
                          <a:latin typeface="Inter" panose="020B0604020202020204" charset="0"/>
                          <a:ea typeface="Inter" panose="020B0604020202020204" charset="0"/>
                          <a:cs typeface="Inter"/>
                          <a:sym typeface="Inter"/>
                        </a:rPr>
                        <a:t>tbl_transactions</a:t>
                      </a:r>
                      <a:endParaRPr dirty="0">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dirty="0" err="1">
                          <a:solidFill>
                            <a:schemeClr val="tx1"/>
                          </a:solidFill>
                          <a:latin typeface="Inter" panose="020B0604020202020204" charset="0"/>
                          <a:ea typeface="Inter" panose="020B0604020202020204" charset="0"/>
                          <a:cs typeface="Inter"/>
                          <a:sym typeface="Inter"/>
                        </a:rPr>
                        <a:t>Lịch</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sử</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dòng</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tiền</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chứng</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từ</a:t>
                      </a:r>
                      <a:r>
                        <a:rPr lang="en-US" sz="1425" b="0" i="0" u="none" strike="noStrike" cap="none" dirty="0">
                          <a:solidFill>
                            <a:schemeClr val="tx1"/>
                          </a:solidFill>
                          <a:latin typeface="Inter" panose="020B0604020202020204" charset="0"/>
                          <a:ea typeface="Inter" panose="020B0604020202020204" charset="0"/>
                          <a:cs typeface="Inter"/>
                          <a:sym typeface="Inter"/>
                        </a:rPr>
                        <a:t> chi </a:t>
                      </a:r>
                      <a:r>
                        <a:rPr lang="en-US" sz="1425" b="0" i="0" u="none" strike="noStrike" cap="none" dirty="0" err="1">
                          <a:solidFill>
                            <a:schemeClr val="tx1"/>
                          </a:solidFill>
                          <a:latin typeface="Inter" panose="020B0604020202020204" charset="0"/>
                          <a:ea typeface="Inter" panose="020B0604020202020204" charset="0"/>
                          <a:cs typeface="Inter"/>
                          <a:sym typeface="Inter"/>
                        </a:rPr>
                        <a:t>tiêu</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và</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người</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nộp</a:t>
                      </a:r>
                      <a:r>
                        <a:rPr lang="en-US" sz="1425" b="0" i="0" u="none" strike="noStrike" cap="none" dirty="0">
                          <a:solidFill>
                            <a:schemeClr val="tx1"/>
                          </a:solidFill>
                          <a:latin typeface="Inter" panose="020B0604020202020204" charset="0"/>
                          <a:ea typeface="Inter" panose="020B0604020202020204" charset="0"/>
                          <a:cs typeface="Inter"/>
                          <a:sym typeface="Inter"/>
                        </a:rPr>
                        <a:t> </a:t>
                      </a:r>
                      <a:r>
                        <a:rPr lang="en-US" sz="1425" b="0" i="0" u="none" strike="noStrike" cap="none" dirty="0" err="1">
                          <a:solidFill>
                            <a:schemeClr val="tx1"/>
                          </a:solidFill>
                          <a:latin typeface="Inter" panose="020B0604020202020204" charset="0"/>
                          <a:ea typeface="Inter" panose="020B0604020202020204" charset="0"/>
                          <a:cs typeface="Inter"/>
                          <a:sym typeface="Inter"/>
                        </a:rPr>
                        <a:t>quỹ</a:t>
                      </a:r>
                      <a:r>
                        <a:rPr lang="en-US" sz="1425" b="0" i="0" u="none" strike="noStrike" cap="none" dirty="0">
                          <a:solidFill>
                            <a:schemeClr val="tx1"/>
                          </a:solidFill>
                          <a:latin typeface="Inter" panose="020B0604020202020204" charset="0"/>
                          <a:ea typeface="Inter" panose="020B0604020202020204" charset="0"/>
                          <a:cs typeface="Inter"/>
                          <a:sym typeface="Inter"/>
                        </a:rPr>
                        <a:t>.</a:t>
                      </a:r>
                      <a:endParaRPr dirty="0">
                        <a:solidFill>
                          <a:schemeClr val="tx1"/>
                        </a:solidFill>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542925">
                <a:tc>
                  <a:txBody>
                    <a:bodyPr/>
                    <a:lstStyle/>
                    <a:p>
                      <a:pPr marL="0" marR="0" lvl="0" indent="0" algn="l" rtl="0">
                        <a:spcBef>
                          <a:spcPts val="0"/>
                        </a:spcBef>
                        <a:spcAft>
                          <a:spcPts val="0"/>
                        </a:spcAft>
                        <a:buNone/>
                      </a:pPr>
                      <a:r>
                        <a:rPr lang="en-US" sz="1430" b="1" dirty="0" err="1">
                          <a:solidFill>
                            <a:schemeClr val="tx1"/>
                          </a:solidFill>
                          <a:latin typeface="Inter" panose="020B0604020202020204" charset="0"/>
                          <a:ea typeface="Inter" panose="020B0604020202020204" charset="0"/>
                        </a:rPr>
                        <a:t>tbl_clans</a:t>
                      </a:r>
                      <a:endParaRPr sz="1430" b="1" dirty="0">
                        <a:solidFill>
                          <a:schemeClr val="tx1"/>
                        </a:solidFill>
                        <a:latin typeface="Inter" panose="020B0604020202020204" charset="0"/>
                        <a:ea typeface="Inter" panose="020B060402020202020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dirty="0">
                          <a:solidFill>
                            <a:schemeClr val="tx1"/>
                          </a:solidFill>
                          <a:latin typeface="Inter" panose="020B0604020202020204" charset="0"/>
                          <a:ea typeface="Inter" panose="020B0604020202020204" charset="0"/>
                        </a:rPr>
                        <a:t>Thông </a:t>
                      </a:r>
                      <a:r>
                        <a:rPr lang="en-US" sz="1430" dirty="0">
                          <a:solidFill>
                            <a:schemeClr val="tx1"/>
                          </a:solidFill>
                          <a:latin typeface="Inter" panose="020B0604020202020204" charset="0"/>
                          <a:ea typeface="Inter" panose="020B0604020202020204" charset="0"/>
                        </a:rPr>
                        <a:t>tin</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định</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danh</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nguồn</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gốc</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thủy</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tổ</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và</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ngày</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giỗ</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tổ</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của</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dòng</a:t>
                      </a:r>
                      <a:r>
                        <a:rPr lang="en-US" dirty="0">
                          <a:solidFill>
                            <a:schemeClr val="tx1"/>
                          </a:solidFill>
                          <a:latin typeface="Inter" panose="020B0604020202020204" charset="0"/>
                          <a:ea typeface="Inter" panose="020B0604020202020204" charset="0"/>
                        </a:rPr>
                        <a:t> </a:t>
                      </a:r>
                      <a:r>
                        <a:rPr lang="en-US" dirty="0" err="1">
                          <a:solidFill>
                            <a:schemeClr val="tx1"/>
                          </a:solidFill>
                          <a:latin typeface="Inter" panose="020B0604020202020204" charset="0"/>
                          <a:ea typeface="Inter" panose="020B0604020202020204" charset="0"/>
                        </a:rPr>
                        <a:t>họ</a:t>
                      </a:r>
                      <a:r>
                        <a:rPr lang="en-US" dirty="0">
                          <a:solidFill>
                            <a:schemeClr val="tx1"/>
                          </a:solidFill>
                          <a:latin typeface="Inter" panose="020B0604020202020204" charset="0"/>
                          <a:ea typeface="Inter" panose="020B0604020202020204" charset="0"/>
                        </a:rPr>
                        <a:t>.</a:t>
                      </a:r>
                      <a:endParaRPr dirty="0">
                        <a:solidFill>
                          <a:schemeClr val="tx1"/>
                        </a:solidFill>
                        <a:latin typeface="Inter" panose="020B0604020202020204" charset="0"/>
                        <a:ea typeface="Inter" panose="020B0604020202020204" charset="0"/>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323624273"/>
                  </a:ext>
                </a:extLst>
              </a:tr>
            </a:tbl>
          </a:graphicData>
        </a:graphic>
      </p:graphicFrame>
      <p:sp>
        <p:nvSpPr>
          <p:cNvPr id="431" name="Google Shape;431;p34"/>
          <p:cNvSpPr/>
          <p:nvPr/>
        </p:nvSpPr>
        <p:spPr>
          <a:xfrm>
            <a:off x="676275" y="3586162"/>
            <a:ext cx="275823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2" name="Google Shape;432;p34"/>
          <p:cNvSpPr/>
          <p:nvPr/>
        </p:nvSpPr>
        <p:spPr>
          <a:xfrm>
            <a:off x="3434506" y="3586162"/>
            <a:ext cx="808121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3" name="Google Shape;433;p34"/>
          <p:cNvSpPr/>
          <p:nvPr/>
        </p:nvSpPr>
        <p:spPr>
          <a:xfrm>
            <a:off x="676275" y="4119562"/>
            <a:ext cx="275823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4" name="Google Shape;434;p34"/>
          <p:cNvSpPr/>
          <p:nvPr/>
        </p:nvSpPr>
        <p:spPr>
          <a:xfrm>
            <a:off x="3434506" y="4119562"/>
            <a:ext cx="808121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5" name="Google Shape;435;p34"/>
          <p:cNvSpPr/>
          <p:nvPr/>
        </p:nvSpPr>
        <p:spPr>
          <a:xfrm>
            <a:off x="676275" y="4652962"/>
            <a:ext cx="275823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6" name="Google Shape;436;p34"/>
          <p:cNvSpPr/>
          <p:nvPr/>
        </p:nvSpPr>
        <p:spPr>
          <a:xfrm>
            <a:off x="3434506" y="4652962"/>
            <a:ext cx="808121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7" name="Google Shape;437;p34"/>
          <p:cNvSpPr/>
          <p:nvPr/>
        </p:nvSpPr>
        <p:spPr>
          <a:xfrm>
            <a:off x="676275" y="5186362"/>
            <a:ext cx="275823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8" name="Google Shape;438;p34"/>
          <p:cNvSpPr/>
          <p:nvPr/>
        </p:nvSpPr>
        <p:spPr>
          <a:xfrm>
            <a:off x="3434506" y="5186362"/>
            <a:ext cx="808121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42"/>
        <p:cNvGrpSpPr/>
        <p:nvPr/>
      </p:nvGrpSpPr>
      <p:grpSpPr>
        <a:xfrm>
          <a:off x="0" y="0"/>
          <a:ext cx="0" cy="0"/>
          <a:chOff x="0" y="0"/>
          <a:chExt cx="0" cy="0"/>
        </a:xfrm>
      </p:grpSpPr>
      <p:pic>
        <p:nvPicPr>
          <p:cNvPr id="443" name="Google Shape;443;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44" name="Google Shape;444;p35" descr="image.png"/>
          <p:cNvPicPr preferRelativeResize="0"/>
          <p:nvPr/>
        </p:nvPicPr>
        <p:blipFill rotWithShape="1">
          <a:blip r:embed="rId4">
            <a:alphaModFix/>
          </a:blip>
          <a:srcRect/>
          <a:stretch/>
        </p:blipFill>
        <p:spPr>
          <a:xfrm>
            <a:off x="666750" y="3076575"/>
            <a:ext cx="5238750" cy="1543050"/>
          </a:xfrm>
          <a:prstGeom prst="rect">
            <a:avLst/>
          </a:prstGeom>
          <a:noFill/>
          <a:ln>
            <a:noFill/>
          </a:ln>
        </p:spPr>
      </p:pic>
      <p:pic>
        <p:nvPicPr>
          <p:cNvPr id="445" name="Google Shape;445;p35" descr="image.png"/>
          <p:cNvPicPr preferRelativeResize="0"/>
          <p:nvPr/>
        </p:nvPicPr>
        <p:blipFill rotWithShape="1">
          <a:blip r:embed="rId4">
            <a:alphaModFix/>
          </a:blip>
          <a:srcRect/>
          <a:stretch/>
        </p:blipFill>
        <p:spPr>
          <a:xfrm>
            <a:off x="6286500" y="3076575"/>
            <a:ext cx="5238750" cy="1543050"/>
          </a:xfrm>
          <a:prstGeom prst="rect">
            <a:avLst/>
          </a:prstGeom>
          <a:noFill/>
          <a:ln>
            <a:noFill/>
          </a:ln>
        </p:spPr>
      </p:pic>
      <p:sp>
        <p:nvSpPr>
          <p:cNvPr id="446" name="Google Shape;446;p35"/>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Thiết kế hệ thống API</a:t>
            </a:r>
            <a:endParaRPr/>
          </a:p>
        </p:txBody>
      </p:sp>
      <p:sp>
        <p:nvSpPr>
          <p:cNvPr id="447" name="Google Shape;447;p35"/>
          <p:cNvSpPr/>
          <p:nvPr/>
        </p:nvSpPr>
        <p:spPr>
          <a:xfrm>
            <a:off x="666750" y="933450"/>
            <a:ext cx="66960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9" name="Google Shape;449;p35"/>
          <p:cNvSpPr txBox="1"/>
          <p:nvPr/>
        </p:nvSpPr>
        <p:spPr>
          <a:xfrm>
            <a:off x="962025" y="3371850"/>
            <a:ext cx="488061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Lexend"/>
                <a:ea typeface="Lexend"/>
                <a:cs typeface="Lexend"/>
                <a:sym typeface="Lexend"/>
              </a:rPr>
              <a:t>Giao tiếp HTTP JSON</a:t>
            </a:r>
            <a:endParaRPr/>
          </a:p>
        </p:txBody>
      </p:sp>
      <p:sp>
        <p:nvSpPr>
          <p:cNvPr id="450" name="Google Shape;450;p35"/>
          <p:cNvSpPr txBox="1"/>
          <p:nvPr/>
        </p:nvSpPr>
        <p:spPr>
          <a:xfrm>
            <a:off x="962025" y="3790950"/>
            <a:ext cx="464820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Inter"/>
                <a:ea typeface="Inter"/>
                <a:cs typeface="Inter"/>
                <a:sym typeface="Inter"/>
              </a:rPr>
              <a:t>Tách biệt hoàn toàn Frontend và Backend, giúp hệ thống dễ dàng bảo trì và tích hợp thêm Mobile App sau này.</a:t>
            </a:r>
            <a:endParaRPr/>
          </a:p>
        </p:txBody>
      </p:sp>
      <p:sp>
        <p:nvSpPr>
          <p:cNvPr id="452" name="Google Shape;452;p35"/>
          <p:cNvSpPr txBox="1"/>
          <p:nvPr/>
        </p:nvSpPr>
        <p:spPr>
          <a:xfrm>
            <a:off x="6581775" y="3371850"/>
            <a:ext cx="488061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Lexend"/>
                <a:ea typeface="Lexend"/>
                <a:cs typeface="Lexend"/>
                <a:sym typeface="Lexend"/>
              </a:rPr>
              <a:t>Chuẩn RESTful</a:t>
            </a:r>
            <a:endParaRPr/>
          </a:p>
        </p:txBody>
      </p:sp>
      <p:sp>
        <p:nvSpPr>
          <p:cNvPr id="453" name="Google Shape;453;p35"/>
          <p:cNvSpPr txBox="1"/>
          <p:nvPr/>
        </p:nvSpPr>
        <p:spPr>
          <a:xfrm>
            <a:off x="6581775" y="3790950"/>
            <a:ext cx="464820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Inter"/>
                <a:ea typeface="Inter"/>
                <a:cs typeface="Inter"/>
                <a:sym typeface="Inter"/>
              </a:rPr>
              <a:t>Áp dụng các phương thức GET, POST, PUT, DELETE đồng bộ trên toàn bộ tài nguyên hệ thống.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57"/>
        <p:cNvGrpSpPr/>
        <p:nvPr/>
      </p:nvGrpSpPr>
      <p:grpSpPr>
        <a:xfrm>
          <a:off x="0" y="0"/>
          <a:ext cx="0" cy="0"/>
          <a:chOff x="0" y="0"/>
          <a:chExt cx="0" cy="0"/>
        </a:xfrm>
      </p:grpSpPr>
      <p:pic>
        <p:nvPicPr>
          <p:cNvPr id="458" name="Google Shape;458;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59" name="Google Shape;459;p36"/>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Một số API tiêu biểu</a:t>
            </a:r>
            <a:endParaRPr/>
          </a:p>
        </p:txBody>
      </p:sp>
      <p:sp>
        <p:nvSpPr>
          <p:cNvPr id="460" name="Google Shape;460;p36"/>
          <p:cNvSpPr/>
          <p:nvPr/>
        </p:nvSpPr>
        <p:spPr>
          <a:xfrm>
            <a:off x="666750" y="933450"/>
            <a:ext cx="69913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461" name="Google Shape;461;p36"/>
          <p:cNvGraphicFramePr/>
          <p:nvPr/>
        </p:nvGraphicFramePr>
        <p:xfrm>
          <a:off x="666750" y="2490787"/>
          <a:ext cx="10839450" cy="2714625"/>
        </p:xfrm>
        <a:graphic>
          <a:graphicData uri="http://schemas.openxmlformats.org/drawingml/2006/table">
            <a:tbl>
              <a:tblPr firstRow="1" bandRow="1">
                <a:noFill/>
                <a:tableStyleId>{89804699-30EC-4902-8FF0-153928EC6EE9}</a:tableStyleId>
              </a:tblPr>
              <a:tblGrid>
                <a:gridCol w="1866450">
                  <a:extLst>
                    <a:ext uri="{9D8B030D-6E8A-4147-A177-3AD203B41FA5}">
                      <a16:colId xmlns:a16="http://schemas.microsoft.com/office/drawing/2014/main" val="20000"/>
                    </a:ext>
                  </a:extLst>
                </a:gridCol>
                <a:gridCol w="3984575">
                  <a:extLst>
                    <a:ext uri="{9D8B030D-6E8A-4147-A177-3AD203B41FA5}">
                      <a16:colId xmlns:a16="http://schemas.microsoft.com/office/drawing/2014/main" val="20001"/>
                    </a:ext>
                  </a:extLst>
                </a:gridCol>
                <a:gridCol w="4988425">
                  <a:extLst>
                    <a:ext uri="{9D8B030D-6E8A-4147-A177-3AD203B41FA5}">
                      <a16:colId xmlns:a16="http://schemas.microsoft.com/office/drawing/2014/main" val="20002"/>
                    </a:ext>
                  </a:extLst>
                </a:gridCol>
              </a:tblGrid>
              <a:tr h="542925">
                <a:tc>
                  <a:txBody>
                    <a:bodyPr/>
                    <a:lstStyle/>
                    <a:p>
                      <a:pPr marL="0" marR="0" lvl="0" indent="0" algn="l" rtl="0">
                        <a:spcBef>
                          <a:spcPts val="0"/>
                        </a:spcBef>
                        <a:spcAft>
                          <a:spcPts val="0"/>
                        </a:spcAft>
                        <a:buNone/>
                      </a:pPr>
                      <a:r>
                        <a:rPr lang="en-US" sz="1350" b="0" i="0" u="none" strike="noStrike" cap="none">
                          <a:solidFill>
                            <a:srgbClr val="FFFFFF"/>
                          </a:solidFill>
                          <a:latin typeface="Lexend Medium"/>
                          <a:ea typeface="Lexend Medium"/>
                          <a:cs typeface="Lexend Medium"/>
                          <a:sym typeface="Lexend Medium"/>
                        </a:rPr>
                        <a:t>Module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350" b="0" i="0" u="none" strike="noStrike" cap="none">
                          <a:solidFill>
                            <a:srgbClr val="FFFFFF"/>
                          </a:solidFill>
                          <a:latin typeface="Lexend Medium"/>
                          <a:ea typeface="Lexend Medium"/>
                          <a:cs typeface="Lexend Medium"/>
                          <a:sym typeface="Lexend Medium"/>
                        </a:rPr>
                        <a:t>Endpoint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350" b="0" i="0" u="none" strike="noStrike" cap="none">
                          <a:solidFill>
                            <a:srgbClr val="FFFFFF"/>
                          </a:solidFill>
                          <a:latin typeface="Lexend Medium"/>
                          <a:ea typeface="Lexend Medium"/>
                          <a:cs typeface="Lexend Medium"/>
                          <a:sym typeface="Lexend Medium"/>
                        </a:rPr>
                        <a:t>Mô tả</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extLst>
                  <a:ext uri="{0D108BD9-81ED-4DB2-BD59-A6C34878D82A}">
                    <a16:rowId xmlns:a16="http://schemas.microsoft.com/office/drawing/2014/main" val="10000"/>
                  </a:ext>
                </a:extLst>
              </a:tr>
              <a:tr h="542925">
                <a:tc>
                  <a:txBody>
                    <a:bodyPr/>
                    <a:lstStyle/>
                    <a:p>
                      <a:pPr marL="0" marR="0" lvl="0" indent="0" algn="l" rtl="0">
                        <a:spcBef>
                          <a:spcPts val="0"/>
                        </a:spcBef>
                        <a:spcAft>
                          <a:spcPts val="0"/>
                        </a:spcAft>
                        <a:buNone/>
                      </a:pPr>
                      <a:r>
                        <a:rPr lang="en-US" sz="1425" b="1" i="0" u="none" strike="noStrike" cap="none">
                          <a:solidFill>
                            <a:srgbClr val="1E293B"/>
                          </a:solidFill>
                          <a:latin typeface="Inter"/>
                          <a:ea typeface="Inter"/>
                          <a:cs typeface="Inter"/>
                          <a:sym typeface="Inter"/>
                        </a:rPr>
                        <a:t>Auth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a:solidFill>
                            <a:srgbClr val="1E293B"/>
                          </a:solidFill>
                          <a:latin typeface="Inter"/>
                          <a:ea typeface="Inter"/>
                          <a:cs typeface="Inter"/>
                          <a:sym typeface="Inter"/>
                        </a:rPr>
                        <a:t>/api/auth/login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a:solidFill>
                            <a:srgbClr val="1E293B"/>
                          </a:solidFill>
                          <a:latin typeface="Inter"/>
                          <a:ea typeface="Inter"/>
                          <a:cs typeface="Inter"/>
                          <a:sym typeface="Inter"/>
                        </a:rPr>
                        <a:t>Xác thực &amp; cấp JWT Token.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42925">
                <a:tc>
                  <a:txBody>
                    <a:bodyPr/>
                    <a:lstStyle/>
                    <a:p>
                      <a:pPr marL="0" marR="0" lvl="0" indent="0" algn="l" rtl="0">
                        <a:spcBef>
                          <a:spcPts val="0"/>
                        </a:spcBef>
                        <a:spcAft>
                          <a:spcPts val="0"/>
                        </a:spcAft>
                        <a:buNone/>
                      </a:pPr>
                      <a:r>
                        <a:rPr lang="en-US" sz="1425" b="1" i="0" u="none" strike="noStrike" cap="none">
                          <a:solidFill>
                            <a:srgbClr val="1E293B"/>
                          </a:solidFill>
                          <a:latin typeface="Inter"/>
                          <a:ea typeface="Inter"/>
                          <a:cs typeface="Inter"/>
                          <a:sym typeface="Inter"/>
                        </a:rPr>
                        <a:t>Member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a:solidFill>
                            <a:srgbClr val="1E293B"/>
                          </a:solidFill>
                          <a:latin typeface="Inter"/>
                          <a:ea typeface="Inter"/>
                          <a:cs typeface="Inter"/>
                          <a:sym typeface="Inter"/>
                        </a:rPr>
                        <a:t>/api/members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a:solidFill>
                            <a:srgbClr val="1E293B"/>
                          </a:solidFill>
                          <a:latin typeface="Inter"/>
                          <a:ea typeface="Inter"/>
                          <a:cs typeface="Inter"/>
                          <a:sym typeface="Inter"/>
                        </a:rPr>
                        <a:t>Truy xuất cây phả hệ số.</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42925">
                <a:tc>
                  <a:txBody>
                    <a:bodyPr/>
                    <a:lstStyle/>
                    <a:p>
                      <a:pPr marL="0" marR="0" lvl="0" indent="0" algn="l" rtl="0">
                        <a:spcBef>
                          <a:spcPts val="0"/>
                        </a:spcBef>
                        <a:spcAft>
                          <a:spcPts val="0"/>
                        </a:spcAft>
                        <a:buNone/>
                      </a:pPr>
                      <a:r>
                        <a:rPr lang="en-US" sz="1425" b="1" i="0" u="none" strike="noStrike" cap="none">
                          <a:solidFill>
                            <a:srgbClr val="1E293B"/>
                          </a:solidFill>
                          <a:latin typeface="Inter"/>
                          <a:ea typeface="Inter"/>
                          <a:cs typeface="Inter"/>
                          <a:sym typeface="Inter"/>
                        </a:rPr>
                        <a:t>Finance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a:solidFill>
                            <a:srgbClr val="1E293B"/>
                          </a:solidFill>
                          <a:latin typeface="Inter"/>
                          <a:ea typeface="Inter"/>
                          <a:cs typeface="Inter"/>
                          <a:sym typeface="Inter"/>
                        </a:rPr>
                        <a:t>/api/finance/trans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a:solidFill>
                            <a:srgbClr val="1E293B"/>
                          </a:solidFill>
                          <a:latin typeface="Inter"/>
                          <a:ea typeface="Inter"/>
                          <a:cs typeface="Inter"/>
                          <a:sym typeface="Inter"/>
                        </a:rPr>
                        <a:t>Ghi nhận biến động thu-chi.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42925">
                <a:tc>
                  <a:txBody>
                    <a:bodyPr/>
                    <a:lstStyle/>
                    <a:p>
                      <a:pPr marL="0" marR="0" lvl="0" indent="0" algn="l" rtl="0">
                        <a:spcBef>
                          <a:spcPts val="0"/>
                        </a:spcBef>
                        <a:spcAft>
                          <a:spcPts val="0"/>
                        </a:spcAft>
                        <a:buNone/>
                      </a:pPr>
                      <a:r>
                        <a:rPr lang="en-US" sz="1425" b="1" i="0" u="none" strike="noStrike" cap="none">
                          <a:solidFill>
                            <a:srgbClr val="1E293B"/>
                          </a:solidFill>
                          <a:latin typeface="Inter"/>
                          <a:ea typeface="Inter"/>
                          <a:cs typeface="Inter"/>
                          <a:sym typeface="Inter"/>
                        </a:rPr>
                        <a:t>Event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a:solidFill>
                            <a:srgbClr val="1E293B"/>
                          </a:solidFill>
                          <a:latin typeface="Inter"/>
                          <a:ea typeface="Inter"/>
                          <a:cs typeface="Inter"/>
                          <a:sym typeface="Inter"/>
                        </a:rPr>
                        <a:t>/api/events/rsvp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25" b="0" i="0" u="none" strike="noStrike" cap="none">
                          <a:solidFill>
                            <a:srgbClr val="1E293B"/>
                          </a:solidFill>
                          <a:latin typeface="Inter"/>
                          <a:ea typeface="Inter"/>
                          <a:cs typeface="Inter"/>
                          <a:sym typeface="Inter"/>
                        </a:rPr>
                        <a:t>Gửi phản hồi tham dự sự kiện.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
        <p:nvSpPr>
          <p:cNvPr id="462" name="Google Shape;462;p36"/>
          <p:cNvSpPr/>
          <p:nvPr/>
        </p:nvSpPr>
        <p:spPr>
          <a:xfrm>
            <a:off x="676275" y="3586162"/>
            <a:ext cx="186645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3" name="Google Shape;463;p36"/>
          <p:cNvSpPr/>
          <p:nvPr/>
        </p:nvSpPr>
        <p:spPr>
          <a:xfrm>
            <a:off x="2542728" y="3586162"/>
            <a:ext cx="39845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4" name="Google Shape;464;p36"/>
          <p:cNvSpPr/>
          <p:nvPr/>
        </p:nvSpPr>
        <p:spPr>
          <a:xfrm>
            <a:off x="6527303" y="3586162"/>
            <a:ext cx="498842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5" name="Google Shape;465;p36"/>
          <p:cNvSpPr/>
          <p:nvPr/>
        </p:nvSpPr>
        <p:spPr>
          <a:xfrm>
            <a:off x="676275" y="4119562"/>
            <a:ext cx="186645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6" name="Google Shape;466;p36"/>
          <p:cNvSpPr/>
          <p:nvPr/>
        </p:nvSpPr>
        <p:spPr>
          <a:xfrm>
            <a:off x="2542728" y="4119562"/>
            <a:ext cx="39845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7" name="Google Shape;467;p36"/>
          <p:cNvSpPr/>
          <p:nvPr/>
        </p:nvSpPr>
        <p:spPr>
          <a:xfrm>
            <a:off x="6527303" y="4119562"/>
            <a:ext cx="498842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8" name="Google Shape;468;p36"/>
          <p:cNvSpPr/>
          <p:nvPr/>
        </p:nvSpPr>
        <p:spPr>
          <a:xfrm>
            <a:off x="676275" y="4652962"/>
            <a:ext cx="186645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9" name="Google Shape;469;p36"/>
          <p:cNvSpPr/>
          <p:nvPr/>
        </p:nvSpPr>
        <p:spPr>
          <a:xfrm>
            <a:off x="2542728" y="4652962"/>
            <a:ext cx="39845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0" name="Google Shape;470;p36"/>
          <p:cNvSpPr/>
          <p:nvPr/>
        </p:nvSpPr>
        <p:spPr>
          <a:xfrm>
            <a:off x="6527303" y="4652962"/>
            <a:ext cx="498842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1" name="Google Shape;471;p36"/>
          <p:cNvSpPr/>
          <p:nvPr/>
        </p:nvSpPr>
        <p:spPr>
          <a:xfrm>
            <a:off x="676275" y="5186362"/>
            <a:ext cx="186645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2" name="Google Shape;472;p36"/>
          <p:cNvSpPr/>
          <p:nvPr/>
        </p:nvSpPr>
        <p:spPr>
          <a:xfrm>
            <a:off x="2542728" y="5186362"/>
            <a:ext cx="39845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3" name="Google Shape;473;p36"/>
          <p:cNvSpPr/>
          <p:nvPr/>
        </p:nvSpPr>
        <p:spPr>
          <a:xfrm>
            <a:off x="6527303" y="5186362"/>
            <a:ext cx="498842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Shape 477"/>
        <p:cNvGrpSpPr/>
        <p:nvPr/>
      </p:nvGrpSpPr>
      <p:grpSpPr>
        <a:xfrm>
          <a:off x="0" y="0"/>
          <a:ext cx="0" cy="0"/>
          <a:chOff x="0" y="0"/>
          <a:chExt cx="0" cy="0"/>
        </a:xfrm>
      </p:grpSpPr>
      <p:pic>
        <p:nvPicPr>
          <p:cNvPr id="478" name="Google Shape;478;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79" name="Google Shape;479;p37"/>
          <p:cNvSpPr txBox="1"/>
          <p:nvPr/>
        </p:nvSpPr>
        <p:spPr>
          <a:xfrm>
            <a:off x="2735580" y="3100387"/>
            <a:ext cx="6720840" cy="657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125" b="1" i="0" u="none" strike="noStrike" cap="none">
                <a:solidFill>
                  <a:srgbClr val="FFFFFF"/>
                </a:solidFill>
                <a:latin typeface="Lexend"/>
                <a:ea typeface="Lexend"/>
                <a:cs typeface="Lexend"/>
                <a:sym typeface="Lexend"/>
              </a:rPr>
              <a:t>4. CÀI ĐẶT HỆ THỐNG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83"/>
        <p:cNvGrpSpPr/>
        <p:nvPr/>
      </p:nvGrpSpPr>
      <p:grpSpPr>
        <a:xfrm>
          <a:off x="0" y="0"/>
          <a:ext cx="0" cy="0"/>
          <a:chOff x="0" y="0"/>
          <a:chExt cx="0" cy="0"/>
        </a:xfrm>
      </p:grpSpPr>
      <p:pic>
        <p:nvPicPr>
          <p:cNvPr id="484" name="Google Shape;484;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85" name="Google Shape;485;p38" descr="image.png"/>
          <p:cNvPicPr preferRelativeResize="0"/>
          <p:nvPr/>
        </p:nvPicPr>
        <p:blipFill rotWithShape="1">
          <a:blip r:embed="rId4">
            <a:alphaModFix/>
          </a:blip>
          <a:srcRect/>
          <a:stretch/>
        </p:blipFill>
        <p:spPr>
          <a:xfrm>
            <a:off x="666750" y="2862262"/>
            <a:ext cx="3429000" cy="1971675"/>
          </a:xfrm>
          <a:prstGeom prst="rect">
            <a:avLst/>
          </a:prstGeom>
          <a:noFill/>
          <a:ln>
            <a:noFill/>
          </a:ln>
        </p:spPr>
      </p:pic>
      <p:pic>
        <p:nvPicPr>
          <p:cNvPr id="486" name="Google Shape;486;p38" descr="image.png"/>
          <p:cNvPicPr preferRelativeResize="0"/>
          <p:nvPr/>
        </p:nvPicPr>
        <p:blipFill rotWithShape="1">
          <a:blip r:embed="rId4">
            <a:alphaModFix/>
          </a:blip>
          <a:srcRect/>
          <a:stretch/>
        </p:blipFill>
        <p:spPr>
          <a:xfrm>
            <a:off x="4381500" y="2862262"/>
            <a:ext cx="3429000" cy="1971675"/>
          </a:xfrm>
          <a:prstGeom prst="rect">
            <a:avLst/>
          </a:prstGeom>
          <a:noFill/>
          <a:ln>
            <a:noFill/>
          </a:ln>
        </p:spPr>
      </p:pic>
      <p:pic>
        <p:nvPicPr>
          <p:cNvPr id="487" name="Google Shape;487;p38" descr="image.png"/>
          <p:cNvPicPr preferRelativeResize="0"/>
          <p:nvPr/>
        </p:nvPicPr>
        <p:blipFill rotWithShape="1">
          <a:blip r:embed="rId4">
            <a:alphaModFix/>
          </a:blip>
          <a:srcRect/>
          <a:stretch/>
        </p:blipFill>
        <p:spPr>
          <a:xfrm>
            <a:off x="8096250" y="2862262"/>
            <a:ext cx="3429000" cy="1971675"/>
          </a:xfrm>
          <a:prstGeom prst="rect">
            <a:avLst/>
          </a:prstGeom>
          <a:noFill/>
          <a:ln>
            <a:noFill/>
          </a:ln>
        </p:spPr>
      </p:pic>
      <p:sp>
        <p:nvSpPr>
          <p:cNvPr id="488" name="Google Shape;488;p38"/>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err="1">
                <a:solidFill>
                  <a:srgbClr val="003366"/>
                </a:solidFill>
                <a:latin typeface="Lexend"/>
                <a:ea typeface="Lexend"/>
                <a:cs typeface="Lexend"/>
                <a:sym typeface="Lexend"/>
              </a:rPr>
              <a:t>Lựa</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chọn</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công</a:t>
            </a:r>
            <a:r>
              <a:rPr lang="en-US" sz="2850" b="1" i="0" u="none" strike="noStrike" cap="none" dirty="0">
                <a:solidFill>
                  <a:srgbClr val="003366"/>
                </a:solidFill>
                <a:latin typeface="Lexend"/>
                <a:ea typeface="Lexend"/>
                <a:cs typeface="Lexend"/>
                <a:sym typeface="Lexend"/>
              </a:rPr>
              <a:t> </a:t>
            </a:r>
            <a:r>
              <a:rPr lang="en-US" sz="2850" b="1" i="0" u="none" strike="noStrike" cap="none" dirty="0" err="1">
                <a:solidFill>
                  <a:srgbClr val="003366"/>
                </a:solidFill>
                <a:latin typeface="Lexend"/>
                <a:ea typeface="Lexend"/>
                <a:cs typeface="Lexend"/>
                <a:sym typeface="Lexend"/>
              </a:rPr>
              <a:t>nghệ</a:t>
            </a:r>
            <a:endParaRPr dirty="0"/>
          </a:p>
        </p:txBody>
      </p:sp>
      <p:sp>
        <p:nvSpPr>
          <p:cNvPr id="489" name="Google Shape;489;p38"/>
          <p:cNvSpPr/>
          <p:nvPr/>
        </p:nvSpPr>
        <p:spPr>
          <a:xfrm>
            <a:off x="666750" y="933450"/>
            <a:ext cx="70008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91" name="Google Shape;491;p38" descr="image.png"/>
          <p:cNvPicPr preferRelativeResize="0"/>
          <p:nvPr/>
        </p:nvPicPr>
        <p:blipFill rotWithShape="1">
          <a:blip r:embed="rId5">
            <a:alphaModFix/>
          </a:blip>
          <a:srcRect/>
          <a:stretch/>
        </p:blipFill>
        <p:spPr>
          <a:xfrm>
            <a:off x="962025" y="3157537"/>
            <a:ext cx="2838450" cy="476250"/>
          </a:xfrm>
          <a:prstGeom prst="rect">
            <a:avLst/>
          </a:prstGeom>
          <a:noFill/>
          <a:ln>
            <a:noFill/>
          </a:ln>
        </p:spPr>
      </p:pic>
      <p:sp>
        <p:nvSpPr>
          <p:cNvPr id="492" name="Google Shape;492;p38"/>
          <p:cNvSpPr txBox="1"/>
          <p:nvPr/>
        </p:nvSpPr>
        <p:spPr>
          <a:xfrm>
            <a:off x="891063" y="3776662"/>
            <a:ext cx="2980372"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3366"/>
                </a:solidFill>
                <a:latin typeface="Lexend"/>
                <a:ea typeface="Lexend"/>
                <a:cs typeface="Lexend"/>
                <a:sym typeface="Lexend"/>
              </a:rPr>
              <a:t>ReactJS</a:t>
            </a:r>
            <a:endParaRPr/>
          </a:p>
        </p:txBody>
      </p:sp>
      <p:sp>
        <p:nvSpPr>
          <p:cNvPr id="493" name="Google Shape;493;p38"/>
          <p:cNvSpPr txBox="1"/>
          <p:nvPr/>
        </p:nvSpPr>
        <p:spPr>
          <a:xfrm>
            <a:off x="962025" y="4195762"/>
            <a:ext cx="283845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Frontend linh hoạt</a:t>
            </a:r>
            <a:endParaRPr/>
          </a:p>
        </p:txBody>
      </p:sp>
      <p:pic>
        <p:nvPicPr>
          <p:cNvPr id="495" name="Google Shape;495;p38" descr="image.png"/>
          <p:cNvPicPr preferRelativeResize="0"/>
          <p:nvPr/>
        </p:nvPicPr>
        <p:blipFill rotWithShape="1">
          <a:blip r:embed="rId6">
            <a:alphaModFix/>
          </a:blip>
          <a:srcRect/>
          <a:stretch/>
        </p:blipFill>
        <p:spPr>
          <a:xfrm>
            <a:off x="4676775" y="3157537"/>
            <a:ext cx="2838450" cy="476250"/>
          </a:xfrm>
          <a:prstGeom prst="rect">
            <a:avLst/>
          </a:prstGeom>
          <a:noFill/>
          <a:ln>
            <a:noFill/>
          </a:ln>
        </p:spPr>
      </p:pic>
      <p:sp>
        <p:nvSpPr>
          <p:cNvPr id="496" name="Google Shape;496;p38"/>
          <p:cNvSpPr txBox="1"/>
          <p:nvPr/>
        </p:nvSpPr>
        <p:spPr>
          <a:xfrm>
            <a:off x="4605813" y="3776662"/>
            <a:ext cx="2980372"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3366"/>
                </a:solidFill>
                <a:latin typeface="Lexend"/>
                <a:ea typeface="Lexend"/>
                <a:cs typeface="Lexend"/>
                <a:sym typeface="Lexend"/>
              </a:rPr>
              <a:t>Node.js</a:t>
            </a:r>
            <a:endParaRPr/>
          </a:p>
        </p:txBody>
      </p:sp>
      <p:sp>
        <p:nvSpPr>
          <p:cNvPr id="497" name="Google Shape;497;p38"/>
          <p:cNvSpPr txBox="1"/>
          <p:nvPr/>
        </p:nvSpPr>
        <p:spPr>
          <a:xfrm>
            <a:off x="4676775" y="4195762"/>
            <a:ext cx="283845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Backend tốc độ cao</a:t>
            </a:r>
            <a:endParaRPr/>
          </a:p>
        </p:txBody>
      </p:sp>
      <p:pic>
        <p:nvPicPr>
          <p:cNvPr id="499" name="Google Shape;499;p38" descr="image.png"/>
          <p:cNvPicPr preferRelativeResize="0"/>
          <p:nvPr/>
        </p:nvPicPr>
        <p:blipFill rotWithShape="1">
          <a:blip r:embed="rId7">
            <a:alphaModFix/>
          </a:blip>
          <a:srcRect/>
          <a:stretch/>
        </p:blipFill>
        <p:spPr>
          <a:xfrm>
            <a:off x="8391525" y="3157537"/>
            <a:ext cx="2838450" cy="476250"/>
          </a:xfrm>
          <a:prstGeom prst="rect">
            <a:avLst/>
          </a:prstGeom>
          <a:noFill/>
          <a:ln>
            <a:noFill/>
          </a:ln>
        </p:spPr>
      </p:pic>
      <p:sp>
        <p:nvSpPr>
          <p:cNvPr id="500" name="Google Shape;500;p38"/>
          <p:cNvSpPr txBox="1"/>
          <p:nvPr/>
        </p:nvSpPr>
        <p:spPr>
          <a:xfrm>
            <a:off x="8320563" y="3776662"/>
            <a:ext cx="2980372"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3366"/>
                </a:solidFill>
                <a:latin typeface="Lexend"/>
                <a:ea typeface="Lexend"/>
                <a:cs typeface="Lexend"/>
                <a:sym typeface="Lexend"/>
              </a:rPr>
              <a:t>MySQL</a:t>
            </a:r>
            <a:endParaRPr/>
          </a:p>
        </p:txBody>
      </p:sp>
      <p:sp>
        <p:nvSpPr>
          <p:cNvPr id="501" name="Google Shape;501;p38"/>
          <p:cNvSpPr txBox="1"/>
          <p:nvPr/>
        </p:nvSpPr>
        <p:spPr>
          <a:xfrm>
            <a:off x="8391525" y="4195762"/>
            <a:ext cx="283845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CSDL quan hệ ổn định</a:t>
            </a:r>
            <a:endParaRPr/>
          </a:p>
        </p:txBody>
      </p:sp>
      <p:sp>
        <p:nvSpPr>
          <p:cNvPr id="2" name="TextBox 1">
            <a:extLst>
              <a:ext uri="{FF2B5EF4-FFF2-40B4-BE49-F238E27FC236}">
                <a16:creationId xmlns:a16="http://schemas.microsoft.com/office/drawing/2014/main" id="{FFE218EA-14E3-41F2-0BA3-A989A9FE13DE}"/>
              </a:ext>
            </a:extLst>
          </p:cNvPr>
          <p:cNvSpPr txBox="1"/>
          <p:nvPr/>
        </p:nvSpPr>
        <p:spPr>
          <a:xfrm>
            <a:off x="666749" y="1730588"/>
            <a:ext cx="9070637" cy="584775"/>
          </a:xfrm>
          <a:prstGeom prst="rect">
            <a:avLst/>
          </a:prstGeom>
          <a:noFill/>
        </p:spPr>
        <p:txBody>
          <a:bodyPr wrap="square" rtlCol="0">
            <a:spAutoFit/>
          </a:bodyPr>
          <a:lstStyle/>
          <a:p>
            <a:r>
              <a:rPr lang="en-US" sz="1600" dirty="0">
                <a:latin typeface="Lexend" panose="020B0604020202020204" charset="0"/>
              </a:rPr>
              <a:t>Link </a:t>
            </a:r>
            <a:r>
              <a:rPr lang="en-US" sz="1600" dirty="0" err="1">
                <a:latin typeface="Lexend" panose="020B0604020202020204" charset="0"/>
              </a:rPr>
              <a:t>mã</a:t>
            </a:r>
            <a:r>
              <a:rPr lang="en-US" sz="1600" dirty="0">
                <a:latin typeface="Lexend" panose="020B0604020202020204" charset="0"/>
              </a:rPr>
              <a:t> </a:t>
            </a:r>
            <a:r>
              <a:rPr lang="en-US" sz="1600" dirty="0" err="1">
                <a:latin typeface="Lexend" panose="020B0604020202020204" charset="0"/>
              </a:rPr>
              <a:t>nguồn</a:t>
            </a:r>
            <a:r>
              <a:rPr lang="en-US" sz="1600" dirty="0">
                <a:latin typeface="Lexend" panose="020B0604020202020204" charset="0"/>
              </a:rPr>
              <a:t>: </a:t>
            </a:r>
            <a:r>
              <a:rPr lang="en-US" sz="1600" dirty="0">
                <a:latin typeface="Lexend" panose="020B0604020202020204" charset="0"/>
                <a:hlinkClick r:id="rId8"/>
              </a:rPr>
              <a:t>https://github.com/tienquynh1312/mocban</a:t>
            </a:r>
            <a:endParaRPr lang="en-US" sz="1600" dirty="0">
              <a:latin typeface="Lexend" panose="020B0604020202020204" charset="0"/>
            </a:endParaRPr>
          </a:p>
          <a:p>
            <a:endParaRPr lang="en-US" sz="1600" dirty="0">
              <a:latin typeface="Lexend" panose="020B06040202020202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05"/>
        <p:cNvGrpSpPr/>
        <p:nvPr/>
      </p:nvGrpSpPr>
      <p:grpSpPr>
        <a:xfrm>
          <a:off x="0" y="0"/>
          <a:ext cx="0" cy="0"/>
          <a:chOff x="0" y="0"/>
          <a:chExt cx="0" cy="0"/>
        </a:xfrm>
      </p:grpSpPr>
      <p:pic>
        <p:nvPicPr>
          <p:cNvPr id="506" name="Google Shape;506;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507" name="Google Shape;507;p39"/>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Sơ đồ triển khai hệ thống</a:t>
            </a:r>
            <a:endParaRPr/>
          </a:p>
        </p:txBody>
      </p:sp>
      <p:sp>
        <p:nvSpPr>
          <p:cNvPr id="508" name="Google Shape;508;p39"/>
          <p:cNvSpPr/>
          <p:nvPr/>
        </p:nvSpPr>
        <p:spPr>
          <a:xfrm>
            <a:off x="666750" y="933450"/>
            <a:ext cx="6048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9" name="Google Shape;509;p39"/>
          <p:cNvSpPr txBox="1"/>
          <p:nvPr/>
        </p:nvSpPr>
        <p:spPr>
          <a:xfrm>
            <a:off x="666750" y="6038850"/>
            <a:ext cx="10858500"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1E293B"/>
                </a:solidFill>
                <a:latin typeface="Inter"/>
                <a:ea typeface="Inter"/>
                <a:cs typeface="Inter"/>
                <a:sym typeface="Inter"/>
              </a:rPr>
              <a:t>Mô hình Client Device → Web Server → Database Server.</a:t>
            </a:r>
            <a:endParaRPr/>
          </a:p>
        </p:txBody>
      </p:sp>
      <p:pic>
        <p:nvPicPr>
          <p:cNvPr id="2" name="Picture 1">
            <a:extLst>
              <a:ext uri="{FF2B5EF4-FFF2-40B4-BE49-F238E27FC236}">
                <a16:creationId xmlns:a16="http://schemas.microsoft.com/office/drawing/2014/main" id="{E3894DC7-3C90-70BF-327B-865D6EF5DDCC}"/>
              </a:ext>
            </a:extLst>
          </p:cNvPr>
          <p:cNvPicPr>
            <a:picLocks noChangeAspect="1"/>
          </p:cNvPicPr>
          <p:nvPr/>
        </p:nvPicPr>
        <p:blipFill rotWithShape="1">
          <a:blip r:embed="rId4"/>
          <a:srcRect t="16334"/>
          <a:stretch/>
        </p:blipFill>
        <p:spPr bwMode="auto">
          <a:xfrm>
            <a:off x="666750" y="1268982"/>
            <a:ext cx="10858500" cy="4655568"/>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15"/>
        <p:cNvGrpSpPr/>
        <p:nvPr/>
      </p:nvGrpSpPr>
      <p:grpSpPr>
        <a:xfrm>
          <a:off x="0" y="0"/>
          <a:ext cx="0" cy="0"/>
          <a:chOff x="0" y="0"/>
          <a:chExt cx="0" cy="0"/>
        </a:xfrm>
      </p:grpSpPr>
      <p:pic>
        <p:nvPicPr>
          <p:cNvPr id="516" name="Google Shape;516;p4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17" name="Google Shape;517;p40" descr="image.png"/>
          <p:cNvPicPr preferRelativeResize="0"/>
          <p:nvPr/>
        </p:nvPicPr>
        <p:blipFill rotWithShape="1">
          <a:blip r:embed="rId4">
            <a:alphaModFix/>
          </a:blip>
          <a:srcRect/>
          <a:stretch/>
        </p:blipFill>
        <p:spPr>
          <a:xfrm>
            <a:off x="666750" y="2938462"/>
            <a:ext cx="5238750" cy="1819275"/>
          </a:xfrm>
          <a:prstGeom prst="rect">
            <a:avLst/>
          </a:prstGeom>
          <a:noFill/>
          <a:ln>
            <a:noFill/>
          </a:ln>
        </p:spPr>
      </p:pic>
      <p:pic>
        <p:nvPicPr>
          <p:cNvPr id="518" name="Google Shape;518;p40" descr="image.png"/>
          <p:cNvPicPr preferRelativeResize="0"/>
          <p:nvPr/>
        </p:nvPicPr>
        <p:blipFill rotWithShape="1">
          <a:blip r:embed="rId4">
            <a:alphaModFix/>
          </a:blip>
          <a:srcRect/>
          <a:stretch/>
        </p:blipFill>
        <p:spPr>
          <a:xfrm>
            <a:off x="6286500" y="2938462"/>
            <a:ext cx="5238750" cy="1819275"/>
          </a:xfrm>
          <a:prstGeom prst="rect">
            <a:avLst/>
          </a:prstGeom>
          <a:noFill/>
          <a:ln>
            <a:noFill/>
          </a:ln>
        </p:spPr>
      </p:pic>
      <p:sp>
        <p:nvSpPr>
          <p:cNvPr id="519" name="Google Shape;519;p40"/>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Cấu trúc mã nguồn dự án</a:t>
            </a:r>
            <a:endParaRPr/>
          </a:p>
        </p:txBody>
      </p:sp>
      <p:sp>
        <p:nvSpPr>
          <p:cNvPr id="520" name="Google Shape;520;p40"/>
          <p:cNvSpPr/>
          <p:nvPr/>
        </p:nvSpPr>
        <p:spPr>
          <a:xfrm>
            <a:off x="666750" y="933450"/>
            <a:ext cx="60198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2" name="Google Shape;522;p40"/>
          <p:cNvSpPr txBox="1"/>
          <p:nvPr/>
        </p:nvSpPr>
        <p:spPr>
          <a:xfrm>
            <a:off x="962025" y="3233737"/>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Lexend"/>
                <a:ea typeface="Lexend"/>
                <a:cs typeface="Lexend"/>
                <a:sym typeface="Lexend"/>
              </a:rPr>
              <a:t>Backend (Node.js)</a:t>
            </a:r>
            <a:endParaRPr/>
          </a:p>
        </p:txBody>
      </p:sp>
      <p:sp>
        <p:nvSpPr>
          <p:cNvPr id="523" name="Google Shape;523;p40"/>
          <p:cNvSpPr/>
          <p:nvPr/>
        </p:nvSpPr>
        <p:spPr>
          <a:xfrm>
            <a:off x="962025" y="3595687"/>
            <a:ext cx="46482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4" name="Google Shape;524;p40"/>
          <p:cNvSpPr txBox="1"/>
          <p:nvPr/>
        </p:nvSpPr>
        <p:spPr>
          <a:xfrm>
            <a:off x="962025" y="3767137"/>
            <a:ext cx="4648200"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Arial"/>
                <a:ea typeface="Arial"/>
                <a:cs typeface="Arial"/>
                <a:sym typeface="Arial"/>
              </a:rPr>
              <a:t>/db (Schema &amp; Query)</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1E293B"/>
                </a:solidFill>
                <a:latin typeface="Arial"/>
                <a:ea typeface="Arial"/>
                <a:cs typeface="Arial"/>
                <a:sym typeface="Arial"/>
              </a:rPr>
              <a:t> /middleware (Auth JWT)</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1E293B"/>
                </a:solidFill>
                <a:latin typeface="Arial"/>
                <a:ea typeface="Arial"/>
                <a:cs typeface="Arial"/>
                <a:sym typeface="Arial"/>
              </a:rPr>
              <a:t> /routes (Endpoints)</a:t>
            </a:r>
            <a:endParaRPr/>
          </a:p>
        </p:txBody>
      </p:sp>
      <p:sp>
        <p:nvSpPr>
          <p:cNvPr id="526" name="Google Shape;526;p40"/>
          <p:cNvSpPr txBox="1"/>
          <p:nvPr/>
        </p:nvSpPr>
        <p:spPr>
          <a:xfrm>
            <a:off x="6581775" y="3233737"/>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Lexend"/>
                <a:ea typeface="Lexend"/>
                <a:cs typeface="Lexend"/>
                <a:sym typeface="Lexend"/>
              </a:rPr>
              <a:t>Frontend (React)</a:t>
            </a:r>
            <a:endParaRPr/>
          </a:p>
        </p:txBody>
      </p:sp>
      <p:sp>
        <p:nvSpPr>
          <p:cNvPr id="527" name="Google Shape;527;p40"/>
          <p:cNvSpPr/>
          <p:nvPr/>
        </p:nvSpPr>
        <p:spPr>
          <a:xfrm>
            <a:off x="6581775" y="3595687"/>
            <a:ext cx="46482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8" name="Google Shape;528;p40"/>
          <p:cNvSpPr txBox="1"/>
          <p:nvPr/>
        </p:nvSpPr>
        <p:spPr>
          <a:xfrm>
            <a:off x="6581775" y="3767137"/>
            <a:ext cx="4648200"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Arial"/>
                <a:ea typeface="Arial"/>
                <a:cs typeface="Arial"/>
                <a:sym typeface="Arial"/>
              </a:rPr>
              <a:t>/components (UI Common)</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1E293B"/>
                </a:solidFill>
                <a:latin typeface="Arial"/>
                <a:ea typeface="Arial"/>
                <a:cs typeface="Arial"/>
                <a:sym typeface="Arial"/>
              </a:rPr>
              <a:t> /pages (Functions)</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1E293B"/>
                </a:solidFill>
                <a:latin typeface="Arial"/>
                <a:ea typeface="Arial"/>
                <a:cs typeface="Arial"/>
                <a:sym typeface="Arial"/>
              </a:rPr>
              <a:t> /services (API Calls)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32"/>
        <p:cNvGrpSpPr/>
        <p:nvPr/>
      </p:nvGrpSpPr>
      <p:grpSpPr>
        <a:xfrm>
          <a:off x="0" y="0"/>
          <a:ext cx="0" cy="0"/>
          <a:chOff x="0" y="0"/>
          <a:chExt cx="0" cy="0"/>
        </a:xfrm>
      </p:grpSpPr>
      <p:pic>
        <p:nvPicPr>
          <p:cNvPr id="533" name="Google Shape;533;p4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34" name="Google Shape;534;p41" descr="image.png"/>
          <p:cNvPicPr preferRelativeResize="0"/>
          <p:nvPr/>
        </p:nvPicPr>
        <p:blipFill rotWithShape="1">
          <a:blip r:embed="rId4">
            <a:alphaModFix/>
          </a:blip>
          <a:srcRect/>
          <a:stretch/>
        </p:blipFill>
        <p:spPr>
          <a:xfrm>
            <a:off x="666750" y="2628900"/>
            <a:ext cx="10858500" cy="1123950"/>
          </a:xfrm>
          <a:prstGeom prst="rect">
            <a:avLst/>
          </a:prstGeom>
          <a:noFill/>
          <a:ln>
            <a:noFill/>
          </a:ln>
        </p:spPr>
      </p:pic>
      <p:pic>
        <p:nvPicPr>
          <p:cNvPr id="535" name="Google Shape;535;p41" descr="image.png"/>
          <p:cNvPicPr preferRelativeResize="0"/>
          <p:nvPr/>
        </p:nvPicPr>
        <p:blipFill rotWithShape="1">
          <a:blip r:embed="rId5">
            <a:alphaModFix/>
          </a:blip>
          <a:srcRect/>
          <a:stretch/>
        </p:blipFill>
        <p:spPr>
          <a:xfrm>
            <a:off x="666750" y="3943350"/>
            <a:ext cx="10858500" cy="1123950"/>
          </a:xfrm>
          <a:prstGeom prst="rect">
            <a:avLst/>
          </a:prstGeom>
          <a:noFill/>
          <a:ln>
            <a:noFill/>
          </a:ln>
        </p:spPr>
      </p:pic>
      <p:sp>
        <p:nvSpPr>
          <p:cNvPr id="536" name="Google Shape;536;p41"/>
          <p:cNvSpPr txBox="1"/>
          <p:nvPr/>
        </p:nvSpPr>
        <p:spPr>
          <a:xfrm>
            <a:off x="666750" y="476250"/>
            <a:ext cx="11401425"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3366"/>
                </a:solidFill>
                <a:latin typeface="Lexend"/>
                <a:ea typeface="Lexend"/>
                <a:cs typeface="Lexend"/>
                <a:sym typeface="Lexend"/>
              </a:rPr>
              <a:t>5. Kết quả &amp; Hạn chế</a:t>
            </a:r>
            <a:endParaRPr/>
          </a:p>
        </p:txBody>
      </p:sp>
      <p:sp>
        <p:nvSpPr>
          <p:cNvPr id="537" name="Google Shape;537;p41"/>
          <p:cNvSpPr/>
          <p:nvPr/>
        </p:nvSpPr>
        <p:spPr>
          <a:xfrm>
            <a:off x="666750" y="933450"/>
            <a:ext cx="68389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9" name="Google Shape;539;p41"/>
          <p:cNvSpPr txBox="1"/>
          <p:nvPr/>
        </p:nvSpPr>
        <p:spPr>
          <a:xfrm>
            <a:off x="962025" y="3114675"/>
            <a:ext cx="1026795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Inter"/>
                <a:ea typeface="Inter"/>
                <a:cs typeface="Inter"/>
                <a:sym typeface="Inter"/>
              </a:rPr>
              <a:t>Thành công:</a:t>
            </a:r>
            <a:r>
              <a:rPr lang="en-US" sz="1200" b="0" i="0" u="none" strike="noStrike" cap="none">
                <a:solidFill>
                  <a:srgbClr val="1E293B"/>
                </a:solidFill>
                <a:latin typeface="Inter"/>
                <a:ea typeface="Inter"/>
                <a:cs typeface="Inter"/>
                <a:sym typeface="Inter"/>
              </a:rPr>
              <a:t> Hoàn thiện 4 phân hệ cốt lõi; Giao diện thân thiện; Chạy thử nghiệm ổn định.</a:t>
            </a:r>
            <a:endParaRPr/>
          </a:p>
        </p:txBody>
      </p:sp>
      <p:sp>
        <p:nvSpPr>
          <p:cNvPr id="541" name="Google Shape;541;p41"/>
          <p:cNvSpPr txBox="1"/>
          <p:nvPr/>
        </p:nvSpPr>
        <p:spPr>
          <a:xfrm>
            <a:off x="962025" y="4429125"/>
            <a:ext cx="1026795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Inter"/>
                <a:ea typeface="Inter"/>
                <a:cs typeface="Inter"/>
                <a:sym typeface="Inter"/>
              </a:rPr>
              <a:t>Hạn chế:</a:t>
            </a:r>
            <a:r>
              <a:rPr lang="en-US" sz="1200" b="0" i="0" u="none" strike="noStrike" cap="none">
                <a:solidFill>
                  <a:srgbClr val="1E293B"/>
                </a:solidFill>
                <a:latin typeface="Inter"/>
                <a:ea typeface="Inter"/>
                <a:cs typeface="Inter"/>
                <a:sym typeface="Inter"/>
              </a:rPr>
              <a:t> Chưa gửi thông báo tự động (Email/SMS); Chưa tối ưu dữ liệu quy mô hàng vạn người.</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1" name="Google Shape;141;p16" descr="image.png"/>
          <p:cNvPicPr preferRelativeResize="0"/>
          <p:nvPr/>
        </p:nvPicPr>
        <p:blipFill rotWithShape="1">
          <a:blip r:embed="rId4">
            <a:alphaModFix/>
          </a:blip>
          <a:srcRect/>
          <a:stretch/>
        </p:blipFill>
        <p:spPr>
          <a:xfrm>
            <a:off x="762000" y="4062412"/>
            <a:ext cx="10668000" cy="1819275"/>
          </a:xfrm>
          <a:prstGeom prst="rect">
            <a:avLst/>
          </a:prstGeom>
          <a:noFill/>
          <a:ln>
            <a:noFill/>
          </a:ln>
        </p:spPr>
      </p:pic>
      <p:pic>
        <p:nvPicPr>
          <p:cNvPr id="142" name="Google Shape;142;p16" descr="image.png"/>
          <p:cNvPicPr preferRelativeResize="0"/>
          <p:nvPr/>
        </p:nvPicPr>
        <p:blipFill rotWithShape="1">
          <a:blip r:embed="rId5">
            <a:alphaModFix/>
          </a:blip>
          <a:srcRect/>
          <a:stretch/>
        </p:blipFill>
        <p:spPr>
          <a:xfrm>
            <a:off x="762000" y="1814512"/>
            <a:ext cx="5143500" cy="2009775"/>
          </a:xfrm>
          <a:prstGeom prst="rect">
            <a:avLst/>
          </a:prstGeom>
          <a:noFill/>
          <a:ln>
            <a:noFill/>
          </a:ln>
        </p:spPr>
      </p:pic>
      <p:pic>
        <p:nvPicPr>
          <p:cNvPr id="143" name="Google Shape;143;p16" descr="image.png"/>
          <p:cNvPicPr preferRelativeResize="0"/>
          <p:nvPr/>
        </p:nvPicPr>
        <p:blipFill rotWithShape="1">
          <a:blip r:embed="rId5">
            <a:alphaModFix/>
          </a:blip>
          <a:srcRect/>
          <a:stretch/>
        </p:blipFill>
        <p:spPr>
          <a:xfrm>
            <a:off x="6286500" y="1814512"/>
            <a:ext cx="5143500" cy="2009775"/>
          </a:xfrm>
          <a:prstGeom prst="rect">
            <a:avLst/>
          </a:prstGeom>
          <a:noFill/>
          <a:ln>
            <a:noFill/>
          </a:ln>
        </p:spPr>
      </p:pic>
      <p:sp>
        <p:nvSpPr>
          <p:cNvPr id="144" name="Google Shape;144;p16"/>
          <p:cNvSpPr txBox="1"/>
          <p:nvPr/>
        </p:nvSpPr>
        <p:spPr>
          <a:xfrm>
            <a:off x="762000" y="571500"/>
            <a:ext cx="1120140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1A33"/>
                </a:solidFill>
                <a:latin typeface="Lexend"/>
                <a:ea typeface="Lexend"/>
                <a:cs typeface="Lexend"/>
                <a:sym typeface="Lexend"/>
              </a:rPr>
              <a:t>Mở rộng: Lộ trình công nghệ</a:t>
            </a:r>
            <a:endParaRPr/>
          </a:p>
        </p:txBody>
      </p:sp>
      <p:sp>
        <p:nvSpPr>
          <p:cNvPr id="145" name="Google Shape;145;p16"/>
          <p:cNvSpPr/>
          <p:nvPr/>
        </p:nvSpPr>
        <p:spPr>
          <a:xfrm>
            <a:off x="762000" y="1028700"/>
            <a:ext cx="52959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7" name="Google Shape;147;p16" descr="image.png"/>
          <p:cNvPicPr preferRelativeResize="0"/>
          <p:nvPr/>
        </p:nvPicPr>
        <p:blipFill rotWithShape="1">
          <a:blip r:embed="rId6">
            <a:alphaModFix/>
          </a:blip>
          <a:srcRect/>
          <a:stretch/>
        </p:blipFill>
        <p:spPr>
          <a:xfrm>
            <a:off x="1057275" y="4357687"/>
            <a:ext cx="10077450" cy="304800"/>
          </a:xfrm>
          <a:prstGeom prst="rect">
            <a:avLst/>
          </a:prstGeom>
          <a:noFill/>
          <a:ln>
            <a:noFill/>
          </a:ln>
        </p:spPr>
      </p:pic>
      <p:sp>
        <p:nvSpPr>
          <p:cNvPr id="148" name="Google Shape;148;p16"/>
          <p:cNvSpPr txBox="1"/>
          <p:nvPr/>
        </p:nvSpPr>
        <p:spPr>
          <a:xfrm>
            <a:off x="1057275" y="4805362"/>
            <a:ext cx="10581322"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1A33"/>
                </a:solidFill>
                <a:latin typeface="Lexend"/>
                <a:ea typeface="Lexend"/>
                <a:cs typeface="Lexend"/>
                <a:sym typeface="Lexend"/>
              </a:rPr>
              <a:t>Zalo ZNS &amp; SMS Gateway</a:t>
            </a:r>
            <a:endParaRPr/>
          </a:p>
        </p:txBody>
      </p:sp>
      <p:sp>
        <p:nvSpPr>
          <p:cNvPr id="149" name="Google Shape;149;p16"/>
          <p:cNvSpPr txBox="1"/>
          <p:nvPr/>
        </p:nvSpPr>
        <p:spPr>
          <a:xfrm>
            <a:off x="1057275" y="5243512"/>
            <a:ext cx="1007745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0F172A"/>
                </a:solidFill>
                <a:latin typeface="Inter"/>
                <a:ea typeface="Inter"/>
                <a:cs typeface="Inter"/>
                <a:sym typeface="Inter"/>
              </a:rPr>
              <a:t>Tự động hóa hoàn toàn các thông báo nhắc lịch giỗ, họp họ thông qua tin nhắn chính thức tới điện thoại thành viên.</a:t>
            </a:r>
            <a:endParaRPr/>
          </a:p>
        </p:txBody>
      </p:sp>
      <p:pic>
        <p:nvPicPr>
          <p:cNvPr id="151" name="Google Shape;151;p16" descr="image.png"/>
          <p:cNvPicPr preferRelativeResize="0"/>
          <p:nvPr/>
        </p:nvPicPr>
        <p:blipFill rotWithShape="1">
          <a:blip r:embed="rId7">
            <a:alphaModFix/>
          </a:blip>
          <a:srcRect/>
          <a:stretch/>
        </p:blipFill>
        <p:spPr>
          <a:xfrm>
            <a:off x="1057275" y="2109787"/>
            <a:ext cx="4552950" cy="304800"/>
          </a:xfrm>
          <a:prstGeom prst="rect">
            <a:avLst/>
          </a:prstGeom>
          <a:noFill/>
          <a:ln>
            <a:noFill/>
          </a:ln>
        </p:spPr>
      </p:pic>
      <p:sp>
        <p:nvSpPr>
          <p:cNvPr id="152" name="Google Shape;152;p16"/>
          <p:cNvSpPr txBox="1"/>
          <p:nvPr/>
        </p:nvSpPr>
        <p:spPr>
          <a:xfrm>
            <a:off x="1057275" y="2557462"/>
            <a:ext cx="4780597"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1A33"/>
                </a:solidFill>
                <a:latin typeface="Lexend"/>
                <a:ea typeface="Lexend"/>
                <a:cs typeface="Lexend"/>
                <a:sym typeface="Lexend"/>
              </a:rPr>
              <a:t>Tích hợp AI Analysis</a:t>
            </a:r>
            <a:endParaRPr/>
          </a:p>
        </p:txBody>
      </p:sp>
      <p:sp>
        <p:nvSpPr>
          <p:cNvPr id="153" name="Google Shape;153;p16"/>
          <p:cNvSpPr txBox="1"/>
          <p:nvPr/>
        </p:nvSpPr>
        <p:spPr>
          <a:xfrm>
            <a:off x="1057275" y="2995612"/>
            <a:ext cx="455295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0F172A"/>
                </a:solidFill>
                <a:latin typeface="Inter"/>
                <a:ea typeface="Inter"/>
                <a:cs typeface="Inter"/>
                <a:sym typeface="Inter"/>
              </a:rPr>
              <a:t>Ứng dụng trí tuệ nhân tạo để phân tích lịch sử, nhận dạng chữ viết cổ trong các văn bản gia phả hán nôm.</a:t>
            </a:r>
            <a:endParaRPr/>
          </a:p>
        </p:txBody>
      </p:sp>
      <p:pic>
        <p:nvPicPr>
          <p:cNvPr id="155" name="Google Shape;155;p16" descr="image.png"/>
          <p:cNvPicPr preferRelativeResize="0"/>
          <p:nvPr/>
        </p:nvPicPr>
        <p:blipFill rotWithShape="1">
          <a:blip r:embed="rId8">
            <a:alphaModFix/>
          </a:blip>
          <a:srcRect/>
          <a:stretch/>
        </p:blipFill>
        <p:spPr>
          <a:xfrm>
            <a:off x="6581775" y="2109787"/>
            <a:ext cx="4552950" cy="304800"/>
          </a:xfrm>
          <a:prstGeom prst="rect">
            <a:avLst/>
          </a:prstGeom>
          <a:noFill/>
          <a:ln>
            <a:noFill/>
          </a:ln>
        </p:spPr>
      </p:pic>
      <p:sp>
        <p:nvSpPr>
          <p:cNvPr id="156" name="Google Shape;156;p16"/>
          <p:cNvSpPr txBox="1"/>
          <p:nvPr/>
        </p:nvSpPr>
        <p:spPr>
          <a:xfrm>
            <a:off x="6581775" y="2557462"/>
            <a:ext cx="4780597"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1A33"/>
                </a:solidFill>
                <a:latin typeface="Lexend"/>
                <a:ea typeface="Lexend"/>
                <a:cs typeface="Lexend"/>
                <a:sym typeface="Lexend"/>
              </a:rPr>
              <a:t>Mobile Native App</a:t>
            </a:r>
            <a:endParaRPr/>
          </a:p>
        </p:txBody>
      </p:sp>
      <p:sp>
        <p:nvSpPr>
          <p:cNvPr id="157" name="Google Shape;157;p16"/>
          <p:cNvSpPr txBox="1"/>
          <p:nvPr/>
        </p:nvSpPr>
        <p:spPr>
          <a:xfrm>
            <a:off x="6581775" y="2995612"/>
            <a:ext cx="455295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0F172A"/>
                </a:solidFill>
                <a:latin typeface="Inter"/>
                <a:ea typeface="Inter"/>
                <a:cs typeface="Inter"/>
                <a:sym typeface="Inter"/>
              </a:rPr>
              <a:t>Phát triển ứng dụng di động riêng biệt cho iOS/Android để tối ưu hóa trải nghiệm người dùng cuối.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4" name="Google Shape;164;p17" descr="image.png"/>
          <p:cNvPicPr preferRelativeResize="0"/>
          <p:nvPr/>
        </p:nvPicPr>
        <p:blipFill rotWithShape="1">
          <a:blip r:embed="rId4">
            <a:alphaModFix/>
          </a:blip>
          <a:srcRect/>
          <a:stretch/>
        </p:blipFill>
        <p:spPr>
          <a:xfrm>
            <a:off x="571500" y="2781301"/>
            <a:ext cx="5143500" cy="2009775"/>
          </a:xfrm>
          <a:prstGeom prst="rect">
            <a:avLst/>
          </a:prstGeom>
          <a:noFill/>
          <a:ln>
            <a:noFill/>
          </a:ln>
        </p:spPr>
      </p:pic>
      <p:pic>
        <p:nvPicPr>
          <p:cNvPr id="165" name="Google Shape;165;p17" descr="image.png"/>
          <p:cNvPicPr preferRelativeResize="0"/>
          <p:nvPr/>
        </p:nvPicPr>
        <p:blipFill rotWithShape="1">
          <a:blip r:embed="rId4">
            <a:alphaModFix/>
          </a:blip>
          <a:srcRect/>
          <a:stretch/>
        </p:blipFill>
        <p:spPr>
          <a:xfrm>
            <a:off x="6218872" y="2781301"/>
            <a:ext cx="5143500" cy="2009775"/>
          </a:xfrm>
          <a:prstGeom prst="rect">
            <a:avLst/>
          </a:prstGeom>
          <a:noFill/>
          <a:ln>
            <a:noFill/>
          </a:ln>
        </p:spPr>
      </p:pic>
      <p:sp>
        <p:nvSpPr>
          <p:cNvPr id="166" name="Google Shape;166;p17"/>
          <p:cNvSpPr txBox="1"/>
          <p:nvPr/>
        </p:nvSpPr>
        <p:spPr>
          <a:xfrm>
            <a:off x="762000" y="571500"/>
            <a:ext cx="1120140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a:solidFill>
                  <a:srgbClr val="001A33"/>
                </a:solidFill>
                <a:latin typeface="Lexend"/>
                <a:ea typeface="Lexend"/>
                <a:cs typeface="Lexend"/>
                <a:sym typeface="Lexend"/>
              </a:rPr>
              <a:t>Mở rộng: Quy mô hệ thống</a:t>
            </a:r>
            <a:endParaRPr/>
          </a:p>
        </p:txBody>
      </p:sp>
      <p:sp>
        <p:nvSpPr>
          <p:cNvPr id="167" name="Google Shape;167;p17"/>
          <p:cNvSpPr/>
          <p:nvPr/>
        </p:nvSpPr>
        <p:spPr>
          <a:xfrm>
            <a:off x="762000" y="1028700"/>
            <a:ext cx="557212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9" name="Google Shape;169;p17" descr="image.png"/>
          <p:cNvPicPr preferRelativeResize="0"/>
          <p:nvPr/>
        </p:nvPicPr>
        <p:blipFill rotWithShape="1">
          <a:blip r:embed="rId5">
            <a:alphaModFix/>
          </a:blip>
          <a:srcRect/>
          <a:stretch/>
        </p:blipFill>
        <p:spPr>
          <a:xfrm>
            <a:off x="752951" y="2882568"/>
            <a:ext cx="4552950" cy="304800"/>
          </a:xfrm>
          <a:prstGeom prst="rect">
            <a:avLst/>
          </a:prstGeom>
          <a:noFill/>
          <a:ln>
            <a:noFill/>
          </a:ln>
        </p:spPr>
      </p:pic>
      <p:sp>
        <p:nvSpPr>
          <p:cNvPr id="170" name="Google Shape;170;p17"/>
          <p:cNvSpPr txBox="1"/>
          <p:nvPr/>
        </p:nvSpPr>
        <p:spPr>
          <a:xfrm>
            <a:off x="752951" y="3373454"/>
            <a:ext cx="4780597"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001A33"/>
                </a:solidFill>
                <a:latin typeface="Lexend"/>
                <a:ea typeface="Lexend"/>
                <a:cs typeface="Lexend"/>
                <a:sym typeface="Lexend"/>
              </a:rPr>
              <a:t>Hỗ</a:t>
            </a:r>
            <a:r>
              <a:rPr lang="en-US" sz="1800" b="1" i="0" u="none" strike="noStrike" cap="none" dirty="0">
                <a:solidFill>
                  <a:srgbClr val="001A33"/>
                </a:solidFill>
                <a:latin typeface="Lexend"/>
                <a:ea typeface="Lexend"/>
                <a:cs typeface="Lexend"/>
                <a:sym typeface="Lexend"/>
              </a:rPr>
              <a:t> </a:t>
            </a:r>
            <a:r>
              <a:rPr lang="en-US" sz="1800" b="1" i="0" u="none" strike="noStrike" cap="none" dirty="0" err="1">
                <a:solidFill>
                  <a:srgbClr val="001A33"/>
                </a:solidFill>
                <a:latin typeface="Lexend"/>
                <a:ea typeface="Lexend"/>
                <a:cs typeface="Lexend"/>
                <a:sym typeface="Lexend"/>
              </a:rPr>
              <a:t>trợ</a:t>
            </a:r>
            <a:r>
              <a:rPr lang="en-US" sz="1800" b="1" i="0" u="none" strike="noStrike" cap="none" dirty="0">
                <a:solidFill>
                  <a:srgbClr val="001A33"/>
                </a:solidFill>
                <a:latin typeface="Lexend"/>
                <a:ea typeface="Lexend"/>
                <a:cs typeface="Lexend"/>
                <a:sym typeface="Lexend"/>
              </a:rPr>
              <a:t> </a:t>
            </a:r>
            <a:r>
              <a:rPr lang="en-US" sz="1800" b="1" i="0" u="none" strike="noStrike" cap="none" dirty="0" err="1">
                <a:solidFill>
                  <a:srgbClr val="001A33"/>
                </a:solidFill>
                <a:latin typeface="Lexend"/>
                <a:ea typeface="Lexend"/>
                <a:cs typeface="Lexend"/>
                <a:sym typeface="Lexend"/>
              </a:rPr>
              <a:t>đa</a:t>
            </a:r>
            <a:r>
              <a:rPr lang="en-US" sz="1800" b="1" i="0" u="none" strike="noStrike" cap="none" dirty="0">
                <a:solidFill>
                  <a:srgbClr val="001A33"/>
                </a:solidFill>
                <a:latin typeface="Lexend"/>
                <a:ea typeface="Lexend"/>
                <a:cs typeface="Lexend"/>
                <a:sym typeface="Lexend"/>
              </a:rPr>
              <a:t> </a:t>
            </a:r>
            <a:r>
              <a:rPr lang="en-US" sz="1800" b="1" i="0" u="none" strike="noStrike" cap="none" dirty="0" err="1">
                <a:solidFill>
                  <a:srgbClr val="001A33"/>
                </a:solidFill>
                <a:latin typeface="Lexend"/>
                <a:ea typeface="Lexend"/>
                <a:cs typeface="Lexend"/>
                <a:sym typeface="Lexend"/>
              </a:rPr>
              <a:t>dòng</a:t>
            </a:r>
            <a:r>
              <a:rPr lang="en-US" sz="1800" b="1" i="0" u="none" strike="noStrike" cap="none" dirty="0">
                <a:solidFill>
                  <a:srgbClr val="001A33"/>
                </a:solidFill>
                <a:latin typeface="Lexend"/>
                <a:ea typeface="Lexend"/>
                <a:cs typeface="Lexend"/>
                <a:sym typeface="Lexend"/>
              </a:rPr>
              <a:t> </a:t>
            </a:r>
            <a:r>
              <a:rPr lang="en-US" sz="1800" b="1" i="0" u="none" strike="noStrike" cap="none" dirty="0" err="1">
                <a:solidFill>
                  <a:srgbClr val="001A33"/>
                </a:solidFill>
                <a:latin typeface="Lexend"/>
                <a:ea typeface="Lexend"/>
                <a:cs typeface="Lexend"/>
                <a:sym typeface="Lexend"/>
              </a:rPr>
              <a:t>họ</a:t>
            </a:r>
            <a:endParaRPr dirty="0"/>
          </a:p>
        </p:txBody>
      </p:sp>
      <p:sp>
        <p:nvSpPr>
          <p:cNvPr id="171" name="Google Shape;171;p17"/>
          <p:cNvSpPr txBox="1"/>
          <p:nvPr/>
        </p:nvSpPr>
        <p:spPr>
          <a:xfrm>
            <a:off x="722470" y="3898235"/>
            <a:ext cx="455295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0F172A"/>
                </a:solidFill>
                <a:latin typeface="Inter"/>
                <a:ea typeface="Inter"/>
                <a:cs typeface="Inter"/>
                <a:sym typeface="Inter"/>
              </a:rPr>
              <a:t>Chuyển đổi mô hình từ quản lý đơn lẻ sang hệ thống Saas (Multi-tenant) phục vụ cộng đồng hàng nghìn dòng họ.</a:t>
            </a:r>
            <a:endParaRPr/>
          </a:p>
        </p:txBody>
      </p:sp>
      <p:pic>
        <p:nvPicPr>
          <p:cNvPr id="173" name="Google Shape;173;p17" descr="image.png"/>
          <p:cNvPicPr preferRelativeResize="0"/>
          <p:nvPr/>
        </p:nvPicPr>
        <p:blipFill rotWithShape="1">
          <a:blip r:embed="rId6">
            <a:alphaModFix/>
          </a:blip>
          <a:srcRect/>
          <a:stretch/>
        </p:blipFill>
        <p:spPr>
          <a:xfrm>
            <a:off x="6400323" y="2924978"/>
            <a:ext cx="4552950" cy="304800"/>
          </a:xfrm>
          <a:prstGeom prst="rect">
            <a:avLst/>
          </a:prstGeom>
          <a:noFill/>
          <a:ln>
            <a:noFill/>
          </a:ln>
        </p:spPr>
      </p:pic>
      <p:sp>
        <p:nvSpPr>
          <p:cNvPr id="174" name="Google Shape;174;p17"/>
          <p:cNvSpPr txBox="1"/>
          <p:nvPr/>
        </p:nvSpPr>
        <p:spPr>
          <a:xfrm>
            <a:off x="6400323" y="3373454"/>
            <a:ext cx="4780597"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001A33"/>
                </a:solidFill>
                <a:latin typeface="Lexend"/>
                <a:ea typeface="Lexend"/>
                <a:cs typeface="Lexend"/>
                <a:sym typeface="Lexend"/>
              </a:rPr>
              <a:t>Blockchain Security</a:t>
            </a:r>
            <a:endParaRPr dirty="0"/>
          </a:p>
        </p:txBody>
      </p:sp>
      <p:sp>
        <p:nvSpPr>
          <p:cNvPr id="175" name="Google Shape;175;p17"/>
          <p:cNvSpPr txBox="1"/>
          <p:nvPr/>
        </p:nvSpPr>
        <p:spPr>
          <a:xfrm>
            <a:off x="6400323" y="3870357"/>
            <a:ext cx="4552950"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err="1">
                <a:solidFill>
                  <a:srgbClr val="0F172A"/>
                </a:solidFill>
                <a:latin typeface="Inter"/>
                <a:ea typeface="Inter"/>
                <a:cs typeface="Inter"/>
                <a:sym typeface="Inter"/>
              </a:rPr>
              <a:t>Ứng</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dụng</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công</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nghệ</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chuỗi</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khối</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để</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xác</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thực</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và</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bảo</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mật</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tuyệt</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đối</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tính</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toàn</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vẹn</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của</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dữ</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liệu</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huyết</a:t>
            </a:r>
            <a:r>
              <a:rPr lang="en-US" sz="1200" b="0" i="0" u="none" strike="noStrike" cap="none" dirty="0">
                <a:solidFill>
                  <a:srgbClr val="0F172A"/>
                </a:solidFill>
                <a:latin typeface="Inter"/>
                <a:ea typeface="Inter"/>
                <a:cs typeface="Inter"/>
                <a:sym typeface="Inter"/>
              </a:rPr>
              <a:t> </a:t>
            </a:r>
            <a:r>
              <a:rPr lang="en-US" sz="1200" b="0" i="0" u="none" strike="noStrike" cap="none" dirty="0" err="1">
                <a:solidFill>
                  <a:srgbClr val="0F172A"/>
                </a:solidFill>
                <a:latin typeface="Inter"/>
                <a:ea typeface="Inter"/>
                <a:cs typeface="Inter"/>
                <a:sym typeface="Inter"/>
              </a:rPr>
              <a:t>thống</a:t>
            </a:r>
            <a:r>
              <a:rPr lang="en-US" sz="1200" b="0" i="0" u="none" strike="noStrike" cap="none" dirty="0">
                <a:solidFill>
                  <a:srgbClr val="0F172A"/>
                </a:solidFill>
                <a:latin typeface="Inter"/>
                <a:ea typeface="Inter"/>
                <a:cs typeface="Inter"/>
                <a:sym typeface="Inter"/>
              </a:rPr>
              <a:t>.</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4" name="Google Shape;194;p19" descr="image.png"/>
          <p:cNvPicPr preferRelativeResize="0"/>
          <p:nvPr/>
        </p:nvPicPr>
        <p:blipFill rotWithShape="1">
          <a:blip r:embed="rId4">
            <a:alphaModFix/>
          </a:blip>
          <a:srcRect/>
          <a:stretch/>
        </p:blipFill>
        <p:spPr>
          <a:xfrm>
            <a:off x="2490787" y="4386262"/>
            <a:ext cx="6667500" cy="1533525"/>
          </a:xfrm>
          <a:prstGeom prst="rect">
            <a:avLst/>
          </a:prstGeom>
          <a:noFill/>
          <a:ln>
            <a:noFill/>
          </a:ln>
        </p:spPr>
      </p:pic>
      <p:sp>
        <p:nvSpPr>
          <p:cNvPr id="195" name="Google Shape;195;p19"/>
          <p:cNvSpPr txBox="1"/>
          <p:nvPr/>
        </p:nvSpPr>
        <p:spPr>
          <a:xfrm>
            <a:off x="2039064" y="938213"/>
            <a:ext cx="7119223" cy="221599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200" b="1" i="0" u="none" strike="noStrike" cap="none" dirty="0">
                <a:solidFill>
                  <a:srgbClr val="FF823A"/>
                </a:solidFill>
                <a:latin typeface="Lexend" panose="020B0604020202020204" charset="0"/>
                <a:ea typeface="Lexend ExtraBold"/>
                <a:cs typeface="Lexend ExtraBold"/>
                <a:sym typeface="Lexend ExtraBold"/>
              </a:rPr>
              <a:t>TRÂN TRỌNG </a:t>
            </a:r>
            <a:br>
              <a:rPr lang="en-US" sz="7200" b="1" i="0" u="none" strike="noStrike" cap="none" dirty="0">
                <a:solidFill>
                  <a:schemeClr val="dk1"/>
                </a:solidFill>
                <a:latin typeface="Lexend" panose="020B0604020202020204" charset="0"/>
                <a:ea typeface="Calibri"/>
                <a:cs typeface="Calibri"/>
                <a:sym typeface="Calibri"/>
              </a:rPr>
            </a:br>
            <a:r>
              <a:rPr lang="en-US" sz="7200" b="1" i="0" u="none" strike="noStrike" cap="none" dirty="0">
                <a:solidFill>
                  <a:srgbClr val="FF823A"/>
                </a:solidFill>
                <a:latin typeface="Lexend" panose="020B0604020202020204" charset="0"/>
                <a:ea typeface="Lexend ExtraBold"/>
                <a:cs typeface="Lexend ExtraBold"/>
                <a:sym typeface="Lexend ExtraBold"/>
              </a:rPr>
              <a:t> CẢM ƠN!</a:t>
            </a:r>
            <a:endParaRPr sz="7200" b="1" dirty="0">
              <a:latin typeface="Lexend" panose="020B0604020202020204" charset="0"/>
            </a:endParaRPr>
          </a:p>
        </p:txBody>
      </p:sp>
      <p:sp>
        <p:nvSpPr>
          <p:cNvPr id="196" name="Google Shape;196;p19"/>
          <p:cNvSpPr/>
          <p:nvPr/>
        </p:nvSpPr>
        <p:spPr>
          <a:xfrm>
            <a:off x="5645988" y="3633788"/>
            <a:ext cx="762000" cy="38100"/>
          </a:xfrm>
          <a:prstGeom prst="rect">
            <a:avLst/>
          </a:prstGeom>
          <a:solidFill>
            <a:srgbClr val="FF82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9" name="Google Shape;199;p19"/>
          <p:cNvSpPr txBox="1"/>
          <p:nvPr/>
        </p:nvSpPr>
        <p:spPr>
          <a:xfrm>
            <a:off x="2734151" y="4772024"/>
            <a:ext cx="6180772"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dirty="0">
                <a:solidFill>
                  <a:srgbClr val="FFFFFF"/>
                </a:solidFill>
                <a:latin typeface="Lexend"/>
                <a:ea typeface="Lexend"/>
                <a:cs typeface="Lexend"/>
                <a:sym typeface="Lexend"/>
              </a:rPr>
              <a:t>HỎI &amp; ĐÁP (Q&amp;A)</a:t>
            </a:r>
            <a:endParaRPr dirty="0"/>
          </a:p>
        </p:txBody>
      </p:sp>
      <p:sp>
        <p:nvSpPr>
          <p:cNvPr id="200" name="Google Shape;200;p19"/>
          <p:cNvSpPr txBox="1"/>
          <p:nvPr/>
        </p:nvSpPr>
        <p:spPr>
          <a:xfrm>
            <a:off x="2881312" y="5548312"/>
            <a:ext cx="588645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dirty="0" err="1">
                <a:solidFill>
                  <a:srgbClr val="FF823A"/>
                </a:solidFill>
                <a:latin typeface="Inter"/>
                <a:ea typeface="Inter"/>
                <a:cs typeface="Inter"/>
                <a:sym typeface="Inter"/>
              </a:rPr>
              <a:t>Mọi</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thắc</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mắc</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và</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đóng</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góp</a:t>
            </a:r>
            <a:r>
              <a:rPr lang="en-US" sz="1350" b="0" i="0" u="none" strike="noStrike" cap="none" dirty="0">
                <a:solidFill>
                  <a:srgbClr val="FF823A"/>
                </a:solidFill>
                <a:latin typeface="Inter"/>
                <a:ea typeface="Inter"/>
                <a:cs typeface="Inter"/>
                <a:sym typeface="Inter"/>
              </a:rPr>
              <a:t> ý </a:t>
            </a:r>
            <a:r>
              <a:rPr lang="en-US" sz="1350" b="0" i="0" u="none" strike="noStrike" cap="none" dirty="0" err="1">
                <a:solidFill>
                  <a:srgbClr val="FF823A"/>
                </a:solidFill>
                <a:latin typeface="Inter"/>
                <a:ea typeface="Inter"/>
                <a:cs typeface="Inter"/>
                <a:sym typeface="Inter"/>
              </a:rPr>
              <a:t>kiến</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xin</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mời</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quý</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vị</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đưa</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ra</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câu</a:t>
            </a:r>
            <a:r>
              <a:rPr lang="en-US" sz="1350" b="0" i="0" u="none" strike="noStrike" cap="none" dirty="0">
                <a:solidFill>
                  <a:srgbClr val="FF823A"/>
                </a:solidFill>
                <a:latin typeface="Inter"/>
                <a:ea typeface="Inter"/>
                <a:cs typeface="Inter"/>
                <a:sym typeface="Inter"/>
              </a:rPr>
              <a:t> </a:t>
            </a:r>
            <a:r>
              <a:rPr lang="en-US" sz="1350" b="0" i="0" u="none" strike="noStrike" cap="none" dirty="0" err="1">
                <a:solidFill>
                  <a:srgbClr val="FF823A"/>
                </a:solidFill>
                <a:latin typeface="Inter"/>
                <a:ea typeface="Inter"/>
                <a:cs typeface="Inter"/>
                <a:sym typeface="Inter"/>
              </a:rPr>
              <a:t>hỏi</a:t>
            </a:r>
            <a:r>
              <a:rPr lang="en-US" sz="1350" b="0" i="0" u="none" strike="noStrike" cap="none" dirty="0">
                <a:solidFill>
                  <a:srgbClr val="FF823A"/>
                </a:solidFill>
                <a:latin typeface="Inter"/>
                <a:ea typeface="Inter"/>
                <a:cs typeface="Inter"/>
                <a:sym typeface="Inter"/>
              </a:rPr>
              <a:t>.</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TotalTime>
  <Words>1480</Words>
  <Application>Microsoft Office PowerPoint</Application>
  <PresentationFormat>Widescreen</PresentationFormat>
  <Paragraphs>177</Paragraphs>
  <Slides>32</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Lexend Medium</vt:lpstr>
      <vt:lpstr>Inter</vt:lpstr>
      <vt:lpstr>Arial</vt:lpstr>
      <vt:lpstr>Calibri</vt:lpstr>
      <vt:lpstr>Lexend</vt:lpstr>
      <vt:lpstr>Inter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 Thi Kieu Trang</cp:lastModifiedBy>
  <cp:revision>11</cp:revision>
  <dcterms:modified xsi:type="dcterms:W3CDTF">2026-06-30T14:16:54Z</dcterms:modified>
</cp:coreProperties>
</file>